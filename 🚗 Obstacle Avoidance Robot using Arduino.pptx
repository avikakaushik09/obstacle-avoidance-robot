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Raleway Heavy" charset="1" panose="00000000000000000000"/>
      <p:regular r:id="rId15"/>
    </p:embeddedFont>
    <p:embeddedFont>
      <p:font typeface="Raleway" charset="1" panose="00000000000000000000"/>
      <p:regular r:id="rId16"/>
    </p:embeddedFont>
    <p:embeddedFont>
      <p:font typeface="Raleway Bold" charset="1" panose="000000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2283244">
            <a:off x="-4759168" y="4375423"/>
            <a:ext cx="10358005" cy="10410055"/>
          </a:xfrm>
          <a:custGeom>
            <a:avLst/>
            <a:gdLst/>
            <a:ahLst/>
            <a:cxnLst/>
            <a:rect r="r" b="b" t="t" l="l"/>
            <a:pathLst>
              <a:path h="10410055" w="10358005">
                <a:moveTo>
                  <a:pt x="10358005" y="0"/>
                </a:moveTo>
                <a:lnTo>
                  <a:pt x="0" y="0"/>
                </a:lnTo>
                <a:lnTo>
                  <a:pt x="0" y="10410055"/>
                </a:lnTo>
                <a:lnTo>
                  <a:pt x="10358005" y="10410055"/>
                </a:lnTo>
                <a:lnTo>
                  <a:pt x="10358005" y="0"/>
                </a:lnTo>
                <a:close/>
              </a:path>
            </a:pathLst>
          </a:custGeom>
          <a:blipFill>
            <a:blip r:embed="rId2"/>
            <a:stretch>
              <a:fillRect l="0" t="0" r="0" b="0"/>
            </a:stretch>
          </a:blipFill>
        </p:spPr>
      </p:sp>
      <p:sp>
        <p:nvSpPr>
          <p:cNvPr name="Freeform 3" id="3"/>
          <p:cNvSpPr/>
          <p:nvPr/>
        </p:nvSpPr>
        <p:spPr>
          <a:xfrm flipH="false" flipV="false" rot="0">
            <a:off x="6330741" y="-10904054"/>
            <a:ext cx="17956749" cy="18046984"/>
          </a:xfrm>
          <a:custGeom>
            <a:avLst/>
            <a:gdLst/>
            <a:ahLst/>
            <a:cxnLst/>
            <a:rect r="r" b="b" t="t" l="l"/>
            <a:pathLst>
              <a:path h="18046984" w="17956749">
                <a:moveTo>
                  <a:pt x="0" y="0"/>
                </a:moveTo>
                <a:lnTo>
                  <a:pt x="17956749" y="0"/>
                </a:lnTo>
                <a:lnTo>
                  <a:pt x="17956749" y="18046984"/>
                </a:lnTo>
                <a:lnTo>
                  <a:pt x="0" y="18046984"/>
                </a:lnTo>
                <a:lnTo>
                  <a:pt x="0" y="0"/>
                </a:lnTo>
                <a:close/>
              </a:path>
            </a:pathLst>
          </a:custGeom>
          <a:blipFill>
            <a:blip r:embed="rId2"/>
            <a:stretch>
              <a:fillRect l="0" t="0" r="0" b="0"/>
            </a:stretch>
          </a:blipFill>
        </p:spPr>
      </p:sp>
      <p:sp>
        <p:nvSpPr>
          <p:cNvPr name="Freeform 4" id="4"/>
          <p:cNvSpPr/>
          <p:nvPr/>
        </p:nvSpPr>
        <p:spPr>
          <a:xfrm flipH="false" flipV="false" rot="0">
            <a:off x="2051607" y="1061398"/>
            <a:ext cx="551236" cy="518162"/>
          </a:xfrm>
          <a:custGeom>
            <a:avLst/>
            <a:gdLst/>
            <a:ahLst/>
            <a:cxnLst/>
            <a:rect r="r" b="b" t="t" l="l"/>
            <a:pathLst>
              <a:path h="518162" w="551236">
                <a:moveTo>
                  <a:pt x="0" y="0"/>
                </a:moveTo>
                <a:lnTo>
                  <a:pt x="551236" y="0"/>
                </a:lnTo>
                <a:lnTo>
                  <a:pt x="551236" y="518162"/>
                </a:lnTo>
                <a:lnTo>
                  <a:pt x="0" y="5181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6998830" y="8999755"/>
            <a:ext cx="416017" cy="418299"/>
          </a:xfrm>
          <a:custGeom>
            <a:avLst/>
            <a:gdLst/>
            <a:ahLst/>
            <a:cxnLst/>
            <a:rect r="r" b="b" t="t" l="l"/>
            <a:pathLst>
              <a:path h="418299" w="416017">
                <a:moveTo>
                  <a:pt x="416017" y="0"/>
                </a:moveTo>
                <a:lnTo>
                  <a:pt x="0" y="0"/>
                </a:lnTo>
                <a:lnTo>
                  <a:pt x="0" y="418299"/>
                </a:lnTo>
                <a:lnTo>
                  <a:pt x="416017" y="418299"/>
                </a:lnTo>
                <a:lnTo>
                  <a:pt x="416017"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2455026" y="-917369"/>
            <a:ext cx="4220884" cy="422088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F7E0E1">
                      <a:alpha val="0"/>
                    </a:srgbClr>
                  </a:gs>
                  <a:gs pos="100000">
                    <a:srgbClr val="C6269E">
                      <a:alpha val="100000"/>
                    </a:srgbClr>
                  </a:gs>
                </a:gsLst>
                <a:lin ang="0"/>
              </a:gradFill>
              <a:prstDash val="solid"/>
              <a:miter/>
            </a:ln>
          </p:spPr>
        </p:sp>
        <p:sp>
          <p:nvSpPr>
            <p:cNvPr name="TextBox 8" id="8"/>
            <p:cNvSpPr txBox="true"/>
            <p:nvPr/>
          </p:nvSpPr>
          <p:spPr>
            <a:xfrm>
              <a:off x="76200" y="104775"/>
              <a:ext cx="660400" cy="631825"/>
            </a:xfrm>
            <a:prstGeom prst="rect">
              <a:avLst/>
            </a:prstGeom>
          </p:spPr>
          <p:txBody>
            <a:bodyPr anchor="ctr" rtlCol="false" tIns="50800" lIns="50800" bIns="50800" rIns="50800"/>
            <a:lstStyle/>
            <a:p>
              <a:pPr algn="ctr">
                <a:lnSpc>
                  <a:spcPts val="2557"/>
                </a:lnSpc>
              </a:pPr>
            </a:p>
          </p:txBody>
        </p:sp>
      </p:grpSp>
      <p:sp>
        <p:nvSpPr>
          <p:cNvPr name="TextBox 9" id="9"/>
          <p:cNvSpPr txBox="true"/>
          <p:nvPr/>
        </p:nvSpPr>
        <p:spPr>
          <a:xfrm rot="0">
            <a:off x="2602843" y="2384747"/>
            <a:ext cx="12853714" cy="1854377"/>
          </a:xfrm>
          <a:prstGeom prst="rect">
            <a:avLst/>
          </a:prstGeom>
        </p:spPr>
        <p:txBody>
          <a:bodyPr anchor="t" rtlCol="false" tIns="0" lIns="0" bIns="0" rIns="0">
            <a:spAutoFit/>
          </a:bodyPr>
          <a:lstStyle/>
          <a:p>
            <a:pPr algn="ctr">
              <a:lnSpc>
                <a:spcPts val="7159"/>
              </a:lnSpc>
              <a:spcBef>
                <a:spcPct val="0"/>
              </a:spcBef>
            </a:pPr>
            <a:r>
              <a:rPr lang="en-US" b="true" sz="6883">
                <a:solidFill>
                  <a:srgbClr val="FFFFFF"/>
                </a:solidFill>
                <a:latin typeface="Raleway Heavy"/>
                <a:ea typeface="Raleway Heavy"/>
                <a:cs typeface="Raleway Heavy"/>
                <a:sym typeface="Raleway Heavy"/>
              </a:rPr>
              <a:t>🚗 Obstacle Avoidance Robot      using Arduino</a:t>
            </a:r>
          </a:p>
        </p:txBody>
      </p:sp>
      <p:sp>
        <p:nvSpPr>
          <p:cNvPr name="TextBox 10" id="10"/>
          <p:cNvSpPr txBox="true"/>
          <p:nvPr/>
        </p:nvSpPr>
        <p:spPr>
          <a:xfrm rot="0">
            <a:off x="1667461" y="7112442"/>
            <a:ext cx="8109284" cy="1880995"/>
          </a:xfrm>
          <a:prstGeom prst="rect">
            <a:avLst/>
          </a:prstGeom>
        </p:spPr>
        <p:txBody>
          <a:bodyPr anchor="t" rtlCol="false" tIns="0" lIns="0" bIns="0" rIns="0">
            <a:spAutoFit/>
          </a:bodyPr>
          <a:lstStyle/>
          <a:p>
            <a:pPr algn="l">
              <a:lnSpc>
                <a:spcPts val="3647"/>
              </a:lnSpc>
            </a:pPr>
            <a:r>
              <a:rPr lang="en-US" sz="3507">
                <a:solidFill>
                  <a:srgbClr val="FFFFFF"/>
                </a:solidFill>
                <a:latin typeface="Raleway"/>
                <a:ea typeface="Raleway"/>
                <a:cs typeface="Raleway"/>
                <a:sym typeface="Raleway"/>
              </a:rPr>
              <a:t> Name: Avika Kaushik</a:t>
            </a:r>
          </a:p>
          <a:p>
            <a:pPr algn="l">
              <a:lnSpc>
                <a:spcPts val="3647"/>
              </a:lnSpc>
            </a:pPr>
            <a:r>
              <a:rPr lang="en-US" sz="3507">
                <a:solidFill>
                  <a:srgbClr val="FFFFFF"/>
                </a:solidFill>
                <a:latin typeface="Raleway"/>
                <a:ea typeface="Raleway"/>
                <a:cs typeface="Raleway"/>
                <a:sym typeface="Raleway"/>
              </a:rPr>
              <a:t>College Name: CGC University Mohali</a:t>
            </a:r>
          </a:p>
          <a:p>
            <a:pPr algn="l">
              <a:lnSpc>
                <a:spcPts val="3647"/>
              </a:lnSpc>
            </a:pPr>
            <a:r>
              <a:rPr lang="en-US" sz="3507">
                <a:solidFill>
                  <a:srgbClr val="FFFFFF"/>
                </a:solidFill>
                <a:latin typeface="Raleway"/>
                <a:ea typeface="Raleway"/>
                <a:cs typeface="Raleway"/>
                <a:sym typeface="Raleway"/>
              </a:rPr>
              <a:t>Subject: Minor Project</a:t>
            </a:r>
          </a:p>
          <a:p>
            <a:pPr algn="l">
              <a:lnSpc>
                <a:spcPts val="3647"/>
              </a:lnSpc>
              <a:spcBef>
                <a:spcPct val="0"/>
              </a:spcBef>
            </a:pPr>
            <a:r>
              <a:rPr lang="en-US" sz="3507">
                <a:solidFill>
                  <a:srgbClr val="FFFFFF"/>
                </a:solidFill>
                <a:latin typeface="Raleway"/>
                <a:ea typeface="Raleway"/>
                <a:cs typeface="Raleway"/>
                <a:sym typeface="Raleway"/>
              </a:rPr>
              <a:t>Guide Name: Vaishnavi</a:t>
            </a:r>
          </a:p>
        </p:txBody>
      </p:sp>
      <p:sp>
        <p:nvSpPr>
          <p:cNvPr name="TextBox 11" id="11"/>
          <p:cNvSpPr txBox="true"/>
          <p:nvPr/>
        </p:nvSpPr>
        <p:spPr>
          <a:xfrm rot="0">
            <a:off x="15309115" y="9072819"/>
            <a:ext cx="1716617"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Next Slide</a:t>
            </a:r>
          </a:p>
        </p:txBody>
      </p:sp>
      <p:grpSp>
        <p:nvGrpSpPr>
          <p:cNvPr name="Group 12" id="12"/>
          <p:cNvGrpSpPr/>
          <p:nvPr/>
        </p:nvGrpSpPr>
        <p:grpSpPr>
          <a:xfrm rot="0">
            <a:off x="13882414" y="6088611"/>
            <a:ext cx="5809652" cy="5809652"/>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F7E0E1">
                      <a:alpha val="0"/>
                    </a:srgbClr>
                  </a:gs>
                  <a:gs pos="100000">
                    <a:srgbClr val="C6269E">
                      <a:alpha val="100000"/>
                    </a:srgbClr>
                  </a:gs>
                </a:gsLst>
                <a:lin ang="0"/>
              </a:gradFill>
              <a:prstDash val="solid"/>
              <a:miter/>
            </a:ln>
          </p:spPr>
        </p:sp>
        <p:sp>
          <p:nvSpPr>
            <p:cNvPr name="TextBox 14" id="14"/>
            <p:cNvSpPr txBox="true"/>
            <p:nvPr/>
          </p:nvSpPr>
          <p:spPr>
            <a:xfrm>
              <a:off x="76200" y="104775"/>
              <a:ext cx="660400" cy="631825"/>
            </a:xfrm>
            <a:prstGeom prst="rect">
              <a:avLst/>
            </a:prstGeom>
          </p:spPr>
          <p:txBody>
            <a:bodyPr anchor="ctr" rtlCol="false" tIns="50800" lIns="50800" bIns="50800" rIns="50800"/>
            <a:lstStyle/>
            <a:p>
              <a:pPr algn="ctr">
                <a:lnSpc>
                  <a:spcPts val="2557"/>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2283244">
            <a:off x="-4759168" y="4375423"/>
            <a:ext cx="10358005" cy="10410055"/>
          </a:xfrm>
          <a:custGeom>
            <a:avLst/>
            <a:gdLst/>
            <a:ahLst/>
            <a:cxnLst/>
            <a:rect r="r" b="b" t="t" l="l"/>
            <a:pathLst>
              <a:path h="10410055" w="10358005">
                <a:moveTo>
                  <a:pt x="10358005" y="0"/>
                </a:moveTo>
                <a:lnTo>
                  <a:pt x="0" y="0"/>
                </a:lnTo>
                <a:lnTo>
                  <a:pt x="0" y="10410055"/>
                </a:lnTo>
                <a:lnTo>
                  <a:pt x="10358005" y="10410055"/>
                </a:lnTo>
                <a:lnTo>
                  <a:pt x="10358005" y="0"/>
                </a:lnTo>
                <a:close/>
              </a:path>
            </a:pathLst>
          </a:custGeom>
          <a:blipFill>
            <a:blip r:embed="rId2"/>
            <a:stretch>
              <a:fillRect l="0" t="0" r="0" b="0"/>
            </a:stretch>
          </a:blipFill>
        </p:spPr>
      </p:sp>
      <p:sp>
        <p:nvSpPr>
          <p:cNvPr name="Freeform 3" id="3"/>
          <p:cNvSpPr/>
          <p:nvPr/>
        </p:nvSpPr>
        <p:spPr>
          <a:xfrm flipH="false" flipV="false" rot="0">
            <a:off x="6330741" y="-10904054"/>
            <a:ext cx="17956749" cy="18046984"/>
          </a:xfrm>
          <a:custGeom>
            <a:avLst/>
            <a:gdLst/>
            <a:ahLst/>
            <a:cxnLst/>
            <a:rect r="r" b="b" t="t" l="l"/>
            <a:pathLst>
              <a:path h="18046984" w="17956749">
                <a:moveTo>
                  <a:pt x="0" y="0"/>
                </a:moveTo>
                <a:lnTo>
                  <a:pt x="17956749" y="0"/>
                </a:lnTo>
                <a:lnTo>
                  <a:pt x="17956749" y="18046984"/>
                </a:lnTo>
                <a:lnTo>
                  <a:pt x="0" y="18046984"/>
                </a:lnTo>
                <a:lnTo>
                  <a:pt x="0" y="0"/>
                </a:lnTo>
                <a:close/>
              </a:path>
            </a:pathLst>
          </a:custGeom>
          <a:blipFill>
            <a:blip r:embed="rId2"/>
            <a:stretch>
              <a:fillRect l="0" t="0" r="0" b="0"/>
            </a:stretch>
          </a:blipFill>
        </p:spPr>
      </p:sp>
      <p:sp>
        <p:nvSpPr>
          <p:cNvPr name="Freeform 4" id="4"/>
          <p:cNvSpPr/>
          <p:nvPr/>
        </p:nvSpPr>
        <p:spPr>
          <a:xfrm flipH="false" flipV="false" rot="0">
            <a:off x="2051607" y="1061398"/>
            <a:ext cx="551236" cy="518162"/>
          </a:xfrm>
          <a:custGeom>
            <a:avLst/>
            <a:gdLst/>
            <a:ahLst/>
            <a:cxnLst/>
            <a:rect r="r" b="b" t="t" l="l"/>
            <a:pathLst>
              <a:path h="518162" w="551236">
                <a:moveTo>
                  <a:pt x="0" y="0"/>
                </a:moveTo>
                <a:lnTo>
                  <a:pt x="551236" y="0"/>
                </a:lnTo>
                <a:lnTo>
                  <a:pt x="551236" y="518162"/>
                </a:lnTo>
                <a:lnTo>
                  <a:pt x="0" y="5181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6998830" y="8999755"/>
            <a:ext cx="416017" cy="418299"/>
          </a:xfrm>
          <a:custGeom>
            <a:avLst/>
            <a:gdLst/>
            <a:ahLst/>
            <a:cxnLst/>
            <a:rect r="r" b="b" t="t" l="l"/>
            <a:pathLst>
              <a:path h="418299" w="416017">
                <a:moveTo>
                  <a:pt x="416017" y="0"/>
                </a:moveTo>
                <a:lnTo>
                  <a:pt x="0" y="0"/>
                </a:lnTo>
                <a:lnTo>
                  <a:pt x="0" y="418299"/>
                </a:lnTo>
                <a:lnTo>
                  <a:pt x="416017" y="418299"/>
                </a:lnTo>
                <a:lnTo>
                  <a:pt x="416017"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2455026" y="-917369"/>
            <a:ext cx="4220884" cy="422088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F7E0E1">
                      <a:alpha val="0"/>
                    </a:srgbClr>
                  </a:gs>
                  <a:gs pos="100000">
                    <a:srgbClr val="C6269E">
                      <a:alpha val="100000"/>
                    </a:srgbClr>
                  </a:gs>
                </a:gsLst>
                <a:lin ang="0"/>
              </a:gradFill>
              <a:prstDash val="solid"/>
              <a:miter/>
            </a:ln>
          </p:spPr>
        </p:sp>
        <p:sp>
          <p:nvSpPr>
            <p:cNvPr name="TextBox 8" id="8"/>
            <p:cNvSpPr txBox="true"/>
            <p:nvPr/>
          </p:nvSpPr>
          <p:spPr>
            <a:xfrm>
              <a:off x="76200" y="104775"/>
              <a:ext cx="660400" cy="631825"/>
            </a:xfrm>
            <a:prstGeom prst="rect">
              <a:avLst/>
            </a:prstGeom>
          </p:spPr>
          <p:txBody>
            <a:bodyPr anchor="ctr" rtlCol="false" tIns="50800" lIns="50800" bIns="50800" rIns="50800"/>
            <a:lstStyle/>
            <a:p>
              <a:pPr algn="ctr">
                <a:lnSpc>
                  <a:spcPts val="2557"/>
                </a:lnSpc>
              </a:pPr>
            </a:p>
          </p:txBody>
        </p:sp>
      </p:grpSp>
      <p:sp>
        <p:nvSpPr>
          <p:cNvPr name="TextBox 9" id="9"/>
          <p:cNvSpPr txBox="true"/>
          <p:nvPr/>
        </p:nvSpPr>
        <p:spPr>
          <a:xfrm rot="0">
            <a:off x="2602843" y="2432372"/>
            <a:ext cx="12853714" cy="2688882"/>
          </a:xfrm>
          <a:prstGeom prst="rect">
            <a:avLst/>
          </a:prstGeom>
        </p:spPr>
        <p:txBody>
          <a:bodyPr anchor="t" rtlCol="false" tIns="0" lIns="0" bIns="0" rIns="0">
            <a:spAutoFit/>
          </a:bodyPr>
          <a:lstStyle/>
          <a:p>
            <a:pPr algn="ctr">
              <a:lnSpc>
                <a:spcPts val="10382"/>
              </a:lnSpc>
            </a:pPr>
            <a:r>
              <a:rPr lang="en-US" sz="9983" b="true">
                <a:solidFill>
                  <a:srgbClr val="FFFFFF"/>
                </a:solidFill>
                <a:latin typeface="Raleway Bold"/>
                <a:ea typeface="Raleway Bold"/>
                <a:cs typeface="Raleway Bold"/>
                <a:sym typeface="Raleway Bold"/>
              </a:rPr>
              <a:t>INTRODUCTION</a:t>
            </a:r>
          </a:p>
          <a:p>
            <a:pPr algn="ctr">
              <a:lnSpc>
                <a:spcPts val="10382"/>
              </a:lnSpc>
              <a:spcBef>
                <a:spcPct val="0"/>
              </a:spcBef>
            </a:pPr>
          </a:p>
        </p:txBody>
      </p:sp>
      <p:sp>
        <p:nvSpPr>
          <p:cNvPr name="TextBox 10" id="10"/>
          <p:cNvSpPr txBox="true"/>
          <p:nvPr/>
        </p:nvSpPr>
        <p:spPr>
          <a:xfrm rot="0">
            <a:off x="1408459" y="4799251"/>
            <a:ext cx="15590370" cy="1913337"/>
          </a:xfrm>
          <a:prstGeom prst="rect">
            <a:avLst/>
          </a:prstGeom>
        </p:spPr>
        <p:txBody>
          <a:bodyPr anchor="t" rtlCol="false" tIns="0" lIns="0" bIns="0" rIns="0">
            <a:spAutoFit/>
          </a:bodyPr>
          <a:lstStyle/>
          <a:p>
            <a:pPr algn="l">
              <a:lnSpc>
                <a:spcPts val="3708"/>
              </a:lnSpc>
              <a:spcBef>
                <a:spcPct val="0"/>
              </a:spcBef>
            </a:pPr>
            <a:r>
              <a:rPr lang="en-US" sz="3566">
                <a:solidFill>
                  <a:srgbClr val="FFFFFF"/>
                </a:solidFill>
                <a:latin typeface="Raleway"/>
                <a:ea typeface="Raleway"/>
                <a:cs typeface="Raleway"/>
                <a:sym typeface="Raleway"/>
              </a:rPr>
              <a:t>An obstacle avoidance robot is an intelligent robot that detects obstacles using an ultrasonic sensor and automatically changes direction to avoid collision. This technology is widely used in robotics, automation, and self-driving systems.</a:t>
            </a:r>
          </a:p>
        </p:txBody>
      </p:sp>
      <p:sp>
        <p:nvSpPr>
          <p:cNvPr name="TextBox 11" id="11"/>
          <p:cNvSpPr txBox="true"/>
          <p:nvPr/>
        </p:nvSpPr>
        <p:spPr>
          <a:xfrm rot="0">
            <a:off x="15309115" y="9072819"/>
            <a:ext cx="1716617"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Next Slide</a:t>
            </a:r>
          </a:p>
        </p:txBody>
      </p:sp>
      <p:grpSp>
        <p:nvGrpSpPr>
          <p:cNvPr name="Group 12" id="12"/>
          <p:cNvGrpSpPr/>
          <p:nvPr/>
        </p:nvGrpSpPr>
        <p:grpSpPr>
          <a:xfrm rot="0">
            <a:off x="13882414" y="6088611"/>
            <a:ext cx="5809652" cy="5809652"/>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F7E0E1">
                      <a:alpha val="0"/>
                    </a:srgbClr>
                  </a:gs>
                  <a:gs pos="100000">
                    <a:srgbClr val="C6269E">
                      <a:alpha val="100000"/>
                    </a:srgbClr>
                  </a:gs>
                </a:gsLst>
                <a:lin ang="0"/>
              </a:gradFill>
              <a:prstDash val="solid"/>
              <a:miter/>
            </a:ln>
          </p:spPr>
        </p:sp>
        <p:sp>
          <p:nvSpPr>
            <p:cNvPr name="TextBox 14" id="14"/>
            <p:cNvSpPr txBox="true"/>
            <p:nvPr/>
          </p:nvSpPr>
          <p:spPr>
            <a:xfrm>
              <a:off x="76200" y="104775"/>
              <a:ext cx="660400" cy="631825"/>
            </a:xfrm>
            <a:prstGeom prst="rect">
              <a:avLst/>
            </a:prstGeom>
          </p:spPr>
          <p:txBody>
            <a:bodyPr anchor="ctr" rtlCol="false" tIns="50800" lIns="50800" bIns="50800" rIns="50800"/>
            <a:lstStyle/>
            <a:p>
              <a:pPr algn="ctr">
                <a:lnSpc>
                  <a:spcPts val="2557"/>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2283244">
            <a:off x="-4759168" y="4375423"/>
            <a:ext cx="10358005" cy="10410055"/>
          </a:xfrm>
          <a:custGeom>
            <a:avLst/>
            <a:gdLst/>
            <a:ahLst/>
            <a:cxnLst/>
            <a:rect r="r" b="b" t="t" l="l"/>
            <a:pathLst>
              <a:path h="10410055" w="10358005">
                <a:moveTo>
                  <a:pt x="10358005" y="0"/>
                </a:moveTo>
                <a:lnTo>
                  <a:pt x="0" y="0"/>
                </a:lnTo>
                <a:lnTo>
                  <a:pt x="0" y="10410055"/>
                </a:lnTo>
                <a:lnTo>
                  <a:pt x="10358005" y="10410055"/>
                </a:lnTo>
                <a:lnTo>
                  <a:pt x="10358005" y="0"/>
                </a:lnTo>
                <a:close/>
              </a:path>
            </a:pathLst>
          </a:custGeom>
          <a:blipFill>
            <a:blip r:embed="rId2"/>
            <a:stretch>
              <a:fillRect l="0" t="0" r="0" b="0"/>
            </a:stretch>
          </a:blipFill>
        </p:spPr>
      </p:sp>
      <p:sp>
        <p:nvSpPr>
          <p:cNvPr name="Freeform 3" id="3"/>
          <p:cNvSpPr/>
          <p:nvPr/>
        </p:nvSpPr>
        <p:spPr>
          <a:xfrm flipH="false" flipV="false" rot="0">
            <a:off x="6330741" y="-10904054"/>
            <a:ext cx="17956749" cy="18046984"/>
          </a:xfrm>
          <a:custGeom>
            <a:avLst/>
            <a:gdLst/>
            <a:ahLst/>
            <a:cxnLst/>
            <a:rect r="r" b="b" t="t" l="l"/>
            <a:pathLst>
              <a:path h="18046984" w="17956749">
                <a:moveTo>
                  <a:pt x="0" y="0"/>
                </a:moveTo>
                <a:lnTo>
                  <a:pt x="17956749" y="0"/>
                </a:lnTo>
                <a:lnTo>
                  <a:pt x="17956749" y="18046984"/>
                </a:lnTo>
                <a:lnTo>
                  <a:pt x="0" y="18046984"/>
                </a:lnTo>
                <a:lnTo>
                  <a:pt x="0" y="0"/>
                </a:lnTo>
                <a:close/>
              </a:path>
            </a:pathLst>
          </a:custGeom>
          <a:blipFill>
            <a:blip r:embed="rId2"/>
            <a:stretch>
              <a:fillRect l="0" t="0" r="0" b="0"/>
            </a:stretch>
          </a:blipFill>
        </p:spPr>
      </p:sp>
      <p:sp>
        <p:nvSpPr>
          <p:cNvPr name="Freeform 4" id="4"/>
          <p:cNvSpPr/>
          <p:nvPr/>
        </p:nvSpPr>
        <p:spPr>
          <a:xfrm flipH="false" flipV="false" rot="0">
            <a:off x="2051607" y="1061398"/>
            <a:ext cx="551236" cy="518162"/>
          </a:xfrm>
          <a:custGeom>
            <a:avLst/>
            <a:gdLst/>
            <a:ahLst/>
            <a:cxnLst/>
            <a:rect r="r" b="b" t="t" l="l"/>
            <a:pathLst>
              <a:path h="518162" w="551236">
                <a:moveTo>
                  <a:pt x="0" y="0"/>
                </a:moveTo>
                <a:lnTo>
                  <a:pt x="551236" y="0"/>
                </a:lnTo>
                <a:lnTo>
                  <a:pt x="551236" y="518162"/>
                </a:lnTo>
                <a:lnTo>
                  <a:pt x="0" y="5181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6998830" y="8999755"/>
            <a:ext cx="416017" cy="418299"/>
          </a:xfrm>
          <a:custGeom>
            <a:avLst/>
            <a:gdLst/>
            <a:ahLst/>
            <a:cxnLst/>
            <a:rect r="r" b="b" t="t" l="l"/>
            <a:pathLst>
              <a:path h="418299" w="416017">
                <a:moveTo>
                  <a:pt x="416017" y="0"/>
                </a:moveTo>
                <a:lnTo>
                  <a:pt x="0" y="0"/>
                </a:lnTo>
                <a:lnTo>
                  <a:pt x="0" y="418299"/>
                </a:lnTo>
                <a:lnTo>
                  <a:pt x="416017" y="418299"/>
                </a:lnTo>
                <a:lnTo>
                  <a:pt x="416017"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2455026" y="-917369"/>
            <a:ext cx="4220884" cy="422088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F7E0E1">
                      <a:alpha val="0"/>
                    </a:srgbClr>
                  </a:gs>
                  <a:gs pos="100000">
                    <a:srgbClr val="C6269E">
                      <a:alpha val="100000"/>
                    </a:srgbClr>
                  </a:gs>
                </a:gsLst>
                <a:lin ang="0"/>
              </a:gradFill>
              <a:prstDash val="solid"/>
              <a:miter/>
            </a:ln>
          </p:spPr>
        </p:sp>
        <p:sp>
          <p:nvSpPr>
            <p:cNvPr name="TextBox 8" id="8"/>
            <p:cNvSpPr txBox="true"/>
            <p:nvPr/>
          </p:nvSpPr>
          <p:spPr>
            <a:xfrm>
              <a:off x="76200" y="104775"/>
              <a:ext cx="660400" cy="631825"/>
            </a:xfrm>
            <a:prstGeom prst="rect">
              <a:avLst/>
            </a:prstGeom>
          </p:spPr>
          <p:txBody>
            <a:bodyPr anchor="ctr" rtlCol="false" tIns="50800" lIns="50800" bIns="50800" rIns="50800"/>
            <a:lstStyle/>
            <a:p>
              <a:pPr algn="ctr">
                <a:lnSpc>
                  <a:spcPts val="2557"/>
                </a:lnSpc>
              </a:pPr>
            </a:p>
          </p:txBody>
        </p:sp>
      </p:grpSp>
      <p:sp>
        <p:nvSpPr>
          <p:cNvPr name="TextBox 9" id="9"/>
          <p:cNvSpPr txBox="true"/>
          <p:nvPr/>
        </p:nvSpPr>
        <p:spPr>
          <a:xfrm rot="0">
            <a:off x="2602843" y="2432372"/>
            <a:ext cx="12853714" cy="2688882"/>
          </a:xfrm>
          <a:prstGeom prst="rect">
            <a:avLst/>
          </a:prstGeom>
        </p:spPr>
        <p:txBody>
          <a:bodyPr anchor="t" rtlCol="false" tIns="0" lIns="0" bIns="0" rIns="0">
            <a:spAutoFit/>
          </a:bodyPr>
          <a:lstStyle/>
          <a:p>
            <a:pPr algn="ctr">
              <a:lnSpc>
                <a:spcPts val="10382"/>
              </a:lnSpc>
              <a:spcBef>
                <a:spcPct val="0"/>
              </a:spcBef>
            </a:pPr>
            <a:r>
              <a:rPr lang="en-US" b="true" sz="9983">
                <a:solidFill>
                  <a:srgbClr val="FFFFFF"/>
                </a:solidFill>
                <a:latin typeface="Raleway Bold"/>
                <a:ea typeface="Raleway Bold"/>
                <a:cs typeface="Raleway Bold"/>
                <a:sym typeface="Raleway Bold"/>
              </a:rPr>
              <a:t> Components Required</a:t>
            </a:r>
          </a:p>
        </p:txBody>
      </p:sp>
      <p:sp>
        <p:nvSpPr>
          <p:cNvPr name="TextBox 10" id="10"/>
          <p:cNvSpPr txBox="true"/>
          <p:nvPr/>
        </p:nvSpPr>
        <p:spPr>
          <a:xfrm rot="0">
            <a:off x="1765857" y="5873729"/>
            <a:ext cx="15590370" cy="3792307"/>
          </a:xfrm>
          <a:prstGeom prst="rect">
            <a:avLst/>
          </a:prstGeom>
        </p:spPr>
        <p:txBody>
          <a:bodyPr anchor="t" rtlCol="false" tIns="0" lIns="0" bIns="0" rIns="0">
            <a:spAutoFit/>
          </a:bodyPr>
          <a:lstStyle/>
          <a:p>
            <a:pPr algn="l" marL="769957" indent="-384979" lvl="1">
              <a:lnSpc>
                <a:spcPts val="3708"/>
              </a:lnSpc>
              <a:buFont typeface="Arial"/>
              <a:buChar char="•"/>
            </a:pPr>
            <a:r>
              <a:rPr lang="en-US" sz="3566">
                <a:solidFill>
                  <a:srgbClr val="FFFFFF"/>
                </a:solidFill>
                <a:latin typeface="Raleway"/>
                <a:ea typeface="Raleway"/>
                <a:cs typeface="Raleway"/>
                <a:sym typeface="Raleway"/>
              </a:rPr>
              <a:t>Arduino UNO</a:t>
            </a:r>
          </a:p>
          <a:p>
            <a:pPr algn="l" marL="769957" indent="-384979" lvl="1">
              <a:lnSpc>
                <a:spcPts val="3708"/>
              </a:lnSpc>
              <a:buFont typeface="Arial"/>
              <a:buChar char="•"/>
            </a:pPr>
            <a:r>
              <a:rPr lang="en-US" sz="3566">
                <a:solidFill>
                  <a:srgbClr val="FFFFFF"/>
                </a:solidFill>
                <a:latin typeface="Raleway"/>
                <a:ea typeface="Raleway"/>
                <a:cs typeface="Raleway"/>
                <a:sym typeface="Raleway"/>
              </a:rPr>
              <a:t>Ultrasonic Sensor (PING)))</a:t>
            </a:r>
          </a:p>
          <a:p>
            <a:pPr algn="l" marL="769957" indent="-384979" lvl="1">
              <a:lnSpc>
                <a:spcPts val="3708"/>
              </a:lnSpc>
              <a:buFont typeface="Arial"/>
              <a:buChar char="•"/>
            </a:pPr>
            <a:r>
              <a:rPr lang="en-US" sz="3566">
                <a:solidFill>
                  <a:srgbClr val="FFFFFF"/>
                </a:solidFill>
                <a:latin typeface="Raleway"/>
                <a:ea typeface="Raleway"/>
                <a:cs typeface="Raleway"/>
                <a:sym typeface="Raleway"/>
              </a:rPr>
              <a:t>L293D Motor Driver</a:t>
            </a:r>
          </a:p>
          <a:p>
            <a:pPr algn="l" marL="769957" indent="-384979" lvl="1">
              <a:lnSpc>
                <a:spcPts val="3708"/>
              </a:lnSpc>
              <a:buFont typeface="Arial"/>
              <a:buChar char="•"/>
            </a:pPr>
            <a:r>
              <a:rPr lang="en-US" sz="3566">
                <a:solidFill>
                  <a:srgbClr val="FFFFFF"/>
                </a:solidFill>
                <a:latin typeface="Raleway"/>
                <a:ea typeface="Raleway"/>
                <a:cs typeface="Raleway"/>
                <a:sym typeface="Raleway"/>
              </a:rPr>
              <a:t>2 DC Motors</a:t>
            </a:r>
          </a:p>
          <a:p>
            <a:pPr algn="l" marL="769957" indent="-384979" lvl="1">
              <a:lnSpc>
                <a:spcPts val="3708"/>
              </a:lnSpc>
              <a:buFont typeface="Arial"/>
              <a:buChar char="•"/>
            </a:pPr>
            <a:r>
              <a:rPr lang="en-US" sz="3566">
                <a:solidFill>
                  <a:srgbClr val="FFFFFF"/>
                </a:solidFill>
                <a:latin typeface="Raleway"/>
                <a:ea typeface="Raleway"/>
                <a:cs typeface="Raleway"/>
                <a:sym typeface="Raleway"/>
              </a:rPr>
              <a:t>Battery</a:t>
            </a:r>
          </a:p>
          <a:p>
            <a:pPr algn="l" marL="769957" indent="-384979" lvl="1">
              <a:lnSpc>
                <a:spcPts val="3708"/>
              </a:lnSpc>
              <a:buFont typeface="Arial"/>
              <a:buChar char="•"/>
            </a:pPr>
            <a:r>
              <a:rPr lang="en-US" sz="3566">
                <a:solidFill>
                  <a:srgbClr val="FFFFFF"/>
                </a:solidFill>
                <a:latin typeface="Raleway"/>
                <a:ea typeface="Raleway"/>
                <a:cs typeface="Raleway"/>
                <a:sym typeface="Raleway"/>
              </a:rPr>
              <a:t>Breadboard</a:t>
            </a:r>
          </a:p>
          <a:p>
            <a:pPr algn="l" marL="769957" indent="-384979" lvl="1">
              <a:lnSpc>
                <a:spcPts val="3708"/>
              </a:lnSpc>
              <a:buFont typeface="Arial"/>
              <a:buChar char="•"/>
            </a:pPr>
            <a:r>
              <a:rPr lang="en-US" sz="3566">
                <a:solidFill>
                  <a:srgbClr val="FFFFFF"/>
                </a:solidFill>
                <a:latin typeface="Raleway"/>
                <a:ea typeface="Raleway"/>
                <a:cs typeface="Raleway"/>
                <a:sym typeface="Raleway"/>
              </a:rPr>
              <a:t>Connecting Wires</a:t>
            </a:r>
          </a:p>
          <a:p>
            <a:pPr algn="l">
              <a:lnSpc>
                <a:spcPts val="3708"/>
              </a:lnSpc>
              <a:spcBef>
                <a:spcPct val="0"/>
              </a:spcBef>
            </a:pPr>
          </a:p>
        </p:txBody>
      </p:sp>
      <p:sp>
        <p:nvSpPr>
          <p:cNvPr name="TextBox 11" id="11"/>
          <p:cNvSpPr txBox="true"/>
          <p:nvPr/>
        </p:nvSpPr>
        <p:spPr>
          <a:xfrm rot="0">
            <a:off x="15309115" y="9072819"/>
            <a:ext cx="1716617"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Next Slide</a:t>
            </a:r>
          </a:p>
        </p:txBody>
      </p:sp>
      <p:grpSp>
        <p:nvGrpSpPr>
          <p:cNvPr name="Group 12" id="12"/>
          <p:cNvGrpSpPr/>
          <p:nvPr/>
        </p:nvGrpSpPr>
        <p:grpSpPr>
          <a:xfrm rot="0">
            <a:off x="13882414" y="6088611"/>
            <a:ext cx="5809652" cy="5809652"/>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F7E0E1">
                      <a:alpha val="0"/>
                    </a:srgbClr>
                  </a:gs>
                  <a:gs pos="100000">
                    <a:srgbClr val="C6269E">
                      <a:alpha val="100000"/>
                    </a:srgbClr>
                  </a:gs>
                </a:gsLst>
                <a:lin ang="0"/>
              </a:gradFill>
              <a:prstDash val="solid"/>
              <a:miter/>
            </a:ln>
          </p:spPr>
        </p:sp>
        <p:sp>
          <p:nvSpPr>
            <p:cNvPr name="TextBox 14" id="14"/>
            <p:cNvSpPr txBox="true"/>
            <p:nvPr/>
          </p:nvSpPr>
          <p:spPr>
            <a:xfrm>
              <a:off x="76200" y="104775"/>
              <a:ext cx="660400" cy="631825"/>
            </a:xfrm>
            <a:prstGeom prst="rect">
              <a:avLst/>
            </a:prstGeom>
          </p:spPr>
          <p:txBody>
            <a:bodyPr anchor="ctr" rtlCol="false" tIns="50800" lIns="50800" bIns="50800" rIns="50800"/>
            <a:lstStyle/>
            <a:p>
              <a:pPr algn="ctr">
                <a:lnSpc>
                  <a:spcPts val="2557"/>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2283244">
            <a:off x="-4759168" y="4375423"/>
            <a:ext cx="10358005" cy="10410055"/>
          </a:xfrm>
          <a:custGeom>
            <a:avLst/>
            <a:gdLst/>
            <a:ahLst/>
            <a:cxnLst/>
            <a:rect r="r" b="b" t="t" l="l"/>
            <a:pathLst>
              <a:path h="10410055" w="10358005">
                <a:moveTo>
                  <a:pt x="10358005" y="0"/>
                </a:moveTo>
                <a:lnTo>
                  <a:pt x="0" y="0"/>
                </a:lnTo>
                <a:lnTo>
                  <a:pt x="0" y="10410055"/>
                </a:lnTo>
                <a:lnTo>
                  <a:pt x="10358005" y="10410055"/>
                </a:lnTo>
                <a:lnTo>
                  <a:pt x="10358005" y="0"/>
                </a:lnTo>
                <a:close/>
              </a:path>
            </a:pathLst>
          </a:custGeom>
          <a:blipFill>
            <a:blip r:embed="rId2"/>
            <a:stretch>
              <a:fillRect l="0" t="0" r="0" b="0"/>
            </a:stretch>
          </a:blipFill>
        </p:spPr>
      </p:sp>
      <p:sp>
        <p:nvSpPr>
          <p:cNvPr name="Freeform 3" id="3"/>
          <p:cNvSpPr/>
          <p:nvPr/>
        </p:nvSpPr>
        <p:spPr>
          <a:xfrm flipH="false" flipV="false" rot="0">
            <a:off x="6330741" y="-10904054"/>
            <a:ext cx="17956749" cy="18046984"/>
          </a:xfrm>
          <a:custGeom>
            <a:avLst/>
            <a:gdLst/>
            <a:ahLst/>
            <a:cxnLst/>
            <a:rect r="r" b="b" t="t" l="l"/>
            <a:pathLst>
              <a:path h="18046984" w="17956749">
                <a:moveTo>
                  <a:pt x="0" y="0"/>
                </a:moveTo>
                <a:lnTo>
                  <a:pt x="17956749" y="0"/>
                </a:lnTo>
                <a:lnTo>
                  <a:pt x="17956749" y="18046984"/>
                </a:lnTo>
                <a:lnTo>
                  <a:pt x="0" y="18046984"/>
                </a:lnTo>
                <a:lnTo>
                  <a:pt x="0" y="0"/>
                </a:lnTo>
                <a:close/>
              </a:path>
            </a:pathLst>
          </a:custGeom>
          <a:blipFill>
            <a:blip r:embed="rId2"/>
            <a:stretch>
              <a:fillRect l="0" t="0" r="0" b="0"/>
            </a:stretch>
          </a:blipFill>
        </p:spPr>
      </p:sp>
      <p:sp>
        <p:nvSpPr>
          <p:cNvPr name="Freeform 4" id="4"/>
          <p:cNvSpPr/>
          <p:nvPr/>
        </p:nvSpPr>
        <p:spPr>
          <a:xfrm flipH="false" flipV="false" rot="0">
            <a:off x="2051607" y="1061398"/>
            <a:ext cx="551236" cy="518162"/>
          </a:xfrm>
          <a:custGeom>
            <a:avLst/>
            <a:gdLst/>
            <a:ahLst/>
            <a:cxnLst/>
            <a:rect r="r" b="b" t="t" l="l"/>
            <a:pathLst>
              <a:path h="518162" w="551236">
                <a:moveTo>
                  <a:pt x="0" y="0"/>
                </a:moveTo>
                <a:lnTo>
                  <a:pt x="551236" y="0"/>
                </a:lnTo>
                <a:lnTo>
                  <a:pt x="551236" y="518162"/>
                </a:lnTo>
                <a:lnTo>
                  <a:pt x="0" y="5181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6998830" y="8999755"/>
            <a:ext cx="416017" cy="418299"/>
          </a:xfrm>
          <a:custGeom>
            <a:avLst/>
            <a:gdLst/>
            <a:ahLst/>
            <a:cxnLst/>
            <a:rect r="r" b="b" t="t" l="l"/>
            <a:pathLst>
              <a:path h="418299" w="416017">
                <a:moveTo>
                  <a:pt x="416017" y="0"/>
                </a:moveTo>
                <a:lnTo>
                  <a:pt x="0" y="0"/>
                </a:lnTo>
                <a:lnTo>
                  <a:pt x="0" y="418299"/>
                </a:lnTo>
                <a:lnTo>
                  <a:pt x="416017" y="418299"/>
                </a:lnTo>
                <a:lnTo>
                  <a:pt x="416017"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2455026" y="-917369"/>
            <a:ext cx="4220884" cy="422088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F7E0E1">
                      <a:alpha val="0"/>
                    </a:srgbClr>
                  </a:gs>
                  <a:gs pos="100000">
                    <a:srgbClr val="C6269E">
                      <a:alpha val="100000"/>
                    </a:srgbClr>
                  </a:gs>
                </a:gsLst>
                <a:lin ang="0"/>
              </a:gradFill>
              <a:prstDash val="solid"/>
              <a:miter/>
            </a:ln>
          </p:spPr>
        </p:sp>
        <p:sp>
          <p:nvSpPr>
            <p:cNvPr name="TextBox 8" id="8"/>
            <p:cNvSpPr txBox="true"/>
            <p:nvPr/>
          </p:nvSpPr>
          <p:spPr>
            <a:xfrm>
              <a:off x="76200" y="104775"/>
              <a:ext cx="660400" cy="631825"/>
            </a:xfrm>
            <a:prstGeom prst="rect">
              <a:avLst/>
            </a:prstGeom>
          </p:spPr>
          <p:txBody>
            <a:bodyPr anchor="ctr" rtlCol="false" tIns="50800" lIns="50800" bIns="50800" rIns="50800"/>
            <a:lstStyle/>
            <a:p>
              <a:pPr algn="ctr">
                <a:lnSpc>
                  <a:spcPts val="2557"/>
                </a:lnSpc>
              </a:pPr>
            </a:p>
          </p:txBody>
        </p:sp>
      </p:grpSp>
      <p:sp>
        <p:nvSpPr>
          <p:cNvPr name="TextBox 9" id="9"/>
          <p:cNvSpPr txBox="true"/>
          <p:nvPr/>
        </p:nvSpPr>
        <p:spPr>
          <a:xfrm rot="0">
            <a:off x="2602843" y="2432372"/>
            <a:ext cx="12853714" cy="1374432"/>
          </a:xfrm>
          <a:prstGeom prst="rect">
            <a:avLst/>
          </a:prstGeom>
        </p:spPr>
        <p:txBody>
          <a:bodyPr anchor="t" rtlCol="false" tIns="0" lIns="0" bIns="0" rIns="0">
            <a:spAutoFit/>
          </a:bodyPr>
          <a:lstStyle/>
          <a:p>
            <a:pPr algn="ctr">
              <a:lnSpc>
                <a:spcPts val="10382"/>
              </a:lnSpc>
              <a:spcBef>
                <a:spcPct val="0"/>
              </a:spcBef>
            </a:pPr>
            <a:r>
              <a:rPr lang="en-US" b="true" sz="9983">
                <a:solidFill>
                  <a:srgbClr val="FFFFFF"/>
                </a:solidFill>
                <a:latin typeface="Raleway Bold"/>
                <a:ea typeface="Raleway Bold"/>
                <a:cs typeface="Raleway Bold"/>
                <a:sym typeface="Raleway Bold"/>
              </a:rPr>
              <a:t>Software Used</a:t>
            </a:r>
          </a:p>
        </p:txBody>
      </p:sp>
      <p:sp>
        <p:nvSpPr>
          <p:cNvPr name="TextBox 10" id="10"/>
          <p:cNvSpPr txBox="true"/>
          <p:nvPr/>
        </p:nvSpPr>
        <p:spPr>
          <a:xfrm rot="0">
            <a:off x="1765857" y="5873729"/>
            <a:ext cx="15590370" cy="1443594"/>
          </a:xfrm>
          <a:prstGeom prst="rect">
            <a:avLst/>
          </a:prstGeom>
        </p:spPr>
        <p:txBody>
          <a:bodyPr anchor="t" rtlCol="false" tIns="0" lIns="0" bIns="0" rIns="0">
            <a:spAutoFit/>
          </a:bodyPr>
          <a:lstStyle/>
          <a:p>
            <a:pPr algn="l" marL="769957" indent="-384979" lvl="1">
              <a:lnSpc>
                <a:spcPts val="3708"/>
              </a:lnSpc>
              <a:buFont typeface="Arial"/>
              <a:buChar char="•"/>
            </a:pPr>
            <a:r>
              <a:rPr lang="en-US" sz="3566">
                <a:solidFill>
                  <a:srgbClr val="FFFFFF"/>
                </a:solidFill>
                <a:latin typeface="Raleway"/>
                <a:ea typeface="Raleway"/>
                <a:cs typeface="Raleway"/>
                <a:sym typeface="Raleway"/>
              </a:rPr>
              <a:t>Tinkercad Circuits</a:t>
            </a:r>
          </a:p>
          <a:p>
            <a:pPr algn="l" marL="769957" indent="-384979" lvl="1">
              <a:lnSpc>
                <a:spcPts val="3708"/>
              </a:lnSpc>
              <a:buFont typeface="Arial"/>
              <a:buChar char="•"/>
            </a:pPr>
            <a:r>
              <a:rPr lang="en-US" sz="3566">
                <a:solidFill>
                  <a:srgbClr val="FFFFFF"/>
                </a:solidFill>
                <a:latin typeface="Raleway"/>
                <a:ea typeface="Raleway"/>
                <a:cs typeface="Raleway"/>
                <a:sym typeface="Raleway"/>
              </a:rPr>
              <a:t>A</a:t>
            </a:r>
            <a:r>
              <a:rPr lang="en-US" sz="3566">
                <a:solidFill>
                  <a:srgbClr val="FFFFFF"/>
                </a:solidFill>
                <a:latin typeface="Raleway"/>
                <a:ea typeface="Raleway"/>
                <a:cs typeface="Raleway"/>
                <a:sym typeface="Raleway"/>
              </a:rPr>
              <a:t>rduino Programming Language</a:t>
            </a:r>
          </a:p>
          <a:p>
            <a:pPr algn="l">
              <a:lnSpc>
                <a:spcPts val="3708"/>
              </a:lnSpc>
              <a:spcBef>
                <a:spcPct val="0"/>
              </a:spcBef>
            </a:pPr>
          </a:p>
        </p:txBody>
      </p:sp>
      <p:sp>
        <p:nvSpPr>
          <p:cNvPr name="TextBox 11" id="11"/>
          <p:cNvSpPr txBox="true"/>
          <p:nvPr/>
        </p:nvSpPr>
        <p:spPr>
          <a:xfrm rot="0">
            <a:off x="15309115" y="9072819"/>
            <a:ext cx="1716617"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Next Slide</a:t>
            </a:r>
          </a:p>
        </p:txBody>
      </p:sp>
      <p:grpSp>
        <p:nvGrpSpPr>
          <p:cNvPr name="Group 12" id="12"/>
          <p:cNvGrpSpPr/>
          <p:nvPr/>
        </p:nvGrpSpPr>
        <p:grpSpPr>
          <a:xfrm rot="0">
            <a:off x="13882414" y="6088611"/>
            <a:ext cx="5809652" cy="5809652"/>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F7E0E1">
                      <a:alpha val="0"/>
                    </a:srgbClr>
                  </a:gs>
                  <a:gs pos="100000">
                    <a:srgbClr val="C6269E">
                      <a:alpha val="100000"/>
                    </a:srgbClr>
                  </a:gs>
                </a:gsLst>
                <a:lin ang="0"/>
              </a:gradFill>
              <a:prstDash val="solid"/>
              <a:miter/>
            </a:ln>
          </p:spPr>
        </p:sp>
        <p:sp>
          <p:nvSpPr>
            <p:cNvPr name="TextBox 14" id="14"/>
            <p:cNvSpPr txBox="true"/>
            <p:nvPr/>
          </p:nvSpPr>
          <p:spPr>
            <a:xfrm>
              <a:off x="76200" y="104775"/>
              <a:ext cx="660400" cy="631825"/>
            </a:xfrm>
            <a:prstGeom prst="rect">
              <a:avLst/>
            </a:prstGeom>
          </p:spPr>
          <p:txBody>
            <a:bodyPr anchor="ctr" rtlCol="false" tIns="50800" lIns="50800" bIns="50800" rIns="50800"/>
            <a:lstStyle/>
            <a:p>
              <a:pPr algn="ctr">
                <a:lnSpc>
                  <a:spcPts val="2557"/>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2283244">
            <a:off x="-4759168" y="4375423"/>
            <a:ext cx="10358005" cy="10410055"/>
          </a:xfrm>
          <a:custGeom>
            <a:avLst/>
            <a:gdLst/>
            <a:ahLst/>
            <a:cxnLst/>
            <a:rect r="r" b="b" t="t" l="l"/>
            <a:pathLst>
              <a:path h="10410055" w="10358005">
                <a:moveTo>
                  <a:pt x="10358005" y="0"/>
                </a:moveTo>
                <a:lnTo>
                  <a:pt x="0" y="0"/>
                </a:lnTo>
                <a:lnTo>
                  <a:pt x="0" y="10410055"/>
                </a:lnTo>
                <a:lnTo>
                  <a:pt x="10358005" y="10410055"/>
                </a:lnTo>
                <a:lnTo>
                  <a:pt x="10358005" y="0"/>
                </a:lnTo>
                <a:close/>
              </a:path>
            </a:pathLst>
          </a:custGeom>
          <a:blipFill>
            <a:blip r:embed="rId2"/>
            <a:stretch>
              <a:fillRect l="0" t="0" r="0" b="0"/>
            </a:stretch>
          </a:blipFill>
        </p:spPr>
      </p:sp>
      <p:sp>
        <p:nvSpPr>
          <p:cNvPr name="Freeform 3" id="3"/>
          <p:cNvSpPr/>
          <p:nvPr/>
        </p:nvSpPr>
        <p:spPr>
          <a:xfrm flipH="false" flipV="false" rot="0">
            <a:off x="6330741" y="-10904054"/>
            <a:ext cx="17956749" cy="18046984"/>
          </a:xfrm>
          <a:custGeom>
            <a:avLst/>
            <a:gdLst/>
            <a:ahLst/>
            <a:cxnLst/>
            <a:rect r="r" b="b" t="t" l="l"/>
            <a:pathLst>
              <a:path h="18046984" w="17956749">
                <a:moveTo>
                  <a:pt x="0" y="0"/>
                </a:moveTo>
                <a:lnTo>
                  <a:pt x="17956749" y="0"/>
                </a:lnTo>
                <a:lnTo>
                  <a:pt x="17956749" y="18046984"/>
                </a:lnTo>
                <a:lnTo>
                  <a:pt x="0" y="18046984"/>
                </a:lnTo>
                <a:lnTo>
                  <a:pt x="0" y="0"/>
                </a:lnTo>
                <a:close/>
              </a:path>
            </a:pathLst>
          </a:custGeom>
          <a:blipFill>
            <a:blip r:embed="rId2"/>
            <a:stretch>
              <a:fillRect l="0" t="0" r="0" b="0"/>
            </a:stretch>
          </a:blipFill>
        </p:spPr>
      </p:sp>
      <p:sp>
        <p:nvSpPr>
          <p:cNvPr name="Freeform 4" id="4"/>
          <p:cNvSpPr/>
          <p:nvPr/>
        </p:nvSpPr>
        <p:spPr>
          <a:xfrm flipH="false" flipV="false" rot="0">
            <a:off x="2051607" y="1061398"/>
            <a:ext cx="551236" cy="518162"/>
          </a:xfrm>
          <a:custGeom>
            <a:avLst/>
            <a:gdLst/>
            <a:ahLst/>
            <a:cxnLst/>
            <a:rect r="r" b="b" t="t" l="l"/>
            <a:pathLst>
              <a:path h="518162" w="551236">
                <a:moveTo>
                  <a:pt x="0" y="0"/>
                </a:moveTo>
                <a:lnTo>
                  <a:pt x="551236" y="0"/>
                </a:lnTo>
                <a:lnTo>
                  <a:pt x="551236" y="518162"/>
                </a:lnTo>
                <a:lnTo>
                  <a:pt x="0" y="5181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6998830" y="8999755"/>
            <a:ext cx="416017" cy="418299"/>
          </a:xfrm>
          <a:custGeom>
            <a:avLst/>
            <a:gdLst/>
            <a:ahLst/>
            <a:cxnLst/>
            <a:rect r="r" b="b" t="t" l="l"/>
            <a:pathLst>
              <a:path h="418299" w="416017">
                <a:moveTo>
                  <a:pt x="416017" y="0"/>
                </a:moveTo>
                <a:lnTo>
                  <a:pt x="0" y="0"/>
                </a:lnTo>
                <a:lnTo>
                  <a:pt x="0" y="418299"/>
                </a:lnTo>
                <a:lnTo>
                  <a:pt x="416017" y="418299"/>
                </a:lnTo>
                <a:lnTo>
                  <a:pt x="416017"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2455026" y="-917369"/>
            <a:ext cx="4220884" cy="422088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F7E0E1">
                      <a:alpha val="0"/>
                    </a:srgbClr>
                  </a:gs>
                  <a:gs pos="100000">
                    <a:srgbClr val="C6269E">
                      <a:alpha val="100000"/>
                    </a:srgbClr>
                  </a:gs>
                </a:gsLst>
                <a:lin ang="0"/>
              </a:gradFill>
              <a:prstDash val="solid"/>
              <a:miter/>
            </a:ln>
          </p:spPr>
        </p:sp>
        <p:sp>
          <p:nvSpPr>
            <p:cNvPr name="TextBox 8" id="8"/>
            <p:cNvSpPr txBox="true"/>
            <p:nvPr/>
          </p:nvSpPr>
          <p:spPr>
            <a:xfrm>
              <a:off x="76200" y="104775"/>
              <a:ext cx="660400" cy="631825"/>
            </a:xfrm>
            <a:prstGeom prst="rect">
              <a:avLst/>
            </a:prstGeom>
          </p:spPr>
          <p:txBody>
            <a:bodyPr anchor="ctr" rtlCol="false" tIns="50800" lIns="50800" bIns="50800" rIns="50800"/>
            <a:lstStyle/>
            <a:p>
              <a:pPr algn="ctr">
                <a:lnSpc>
                  <a:spcPts val="2557"/>
                </a:lnSpc>
              </a:pPr>
            </a:p>
          </p:txBody>
        </p:sp>
      </p:grpSp>
      <p:sp>
        <p:nvSpPr>
          <p:cNvPr name="TextBox 9" id="9"/>
          <p:cNvSpPr txBox="true"/>
          <p:nvPr/>
        </p:nvSpPr>
        <p:spPr>
          <a:xfrm rot="0">
            <a:off x="15309115" y="9072819"/>
            <a:ext cx="1716617"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Next Slide</a:t>
            </a:r>
          </a:p>
        </p:txBody>
      </p:sp>
      <p:grpSp>
        <p:nvGrpSpPr>
          <p:cNvPr name="Group 10" id="10"/>
          <p:cNvGrpSpPr/>
          <p:nvPr/>
        </p:nvGrpSpPr>
        <p:grpSpPr>
          <a:xfrm rot="0">
            <a:off x="13882414" y="6088611"/>
            <a:ext cx="5809652" cy="580965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F7E0E1">
                      <a:alpha val="0"/>
                    </a:srgbClr>
                  </a:gs>
                  <a:gs pos="100000">
                    <a:srgbClr val="C6269E">
                      <a:alpha val="100000"/>
                    </a:srgbClr>
                  </a:gs>
                </a:gsLst>
                <a:lin ang="0"/>
              </a:gradFill>
              <a:prstDash val="solid"/>
              <a:miter/>
            </a:ln>
          </p:spPr>
        </p:sp>
        <p:sp>
          <p:nvSpPr>
            <p:cNvPr name="TextBox 12" id="12"/>
            <p:cNvSpPr txBox="true"/>
            <p:nvPr/>
          </p:nvSpPr>
          <p:spPr>
            <a:xfrm>
              <a:off x="76200" y="104775"/>
              <a:ext cx="660400" cy="631825"/>
            </a:xfrm>
            <a:prstGeom prst="rect">
              <a:avLst/>
            </a:prstGeom>
          </p:spPr>
          <p:txBody>
            <a:bodyPr anchor="ctr" rtlCol="false" tIns="50800" lIns="50800" bIns="50800" rIns="50800"/>
            <a:lstStyle/>
            <a:p>
              <a:pPr algn="ctr">
                <a:lnSpc>
                  <a:spcPts val="2557"/>
                </a:lnSpc>
              </a:pPr>
            </a:p>
          </p:txBody>
        </p:sp>
      </p:grpSp>
      <p:sp>
        <p:nvSpPr>
          <p:cNvPr name="Freeform 13" id="13"/>
          <p:cNvSpPr/>
          <p:nvPr/>
        </p:nvSpPr>
        <p:spPr>
          <a:xfrm flipH="false" flipV="false" rot="0">
            <a:off x="3890309" y="4252814"/>
            <a:ext cx="10278781" cy="4791430"/>
          </a:xfrm>
          <a:custGeom>
            <a:avLst/>
            <a:gdLst/>
            <a:ahLst/>
            <a:cxnLst/>
            <a:rect r="r" b="b" t="t" l="l"/>
            <a:pathLst>
              <a:path h="4791430" w="10278781">
                <a:moveTo>
                  <a:pt x="0" y="0"/>
                </a:moveTo>
                <a:lnTo>
                  <a:pt x="10278782" y="0"/>
                </a:lnTo>
                <a:lnTo>
                  <a:pt x="10278782" y="4791430"/>
                </a:lnTo>
                <a:lnTo>
                  <a:pt x="0" y="4791430"/>
                </a:lnTo>
                <a:lnTo>
                  <a:pt x="0" y="0"/>
                </a:lnTo>
                <a:close/>
              </a:path>
            </a:pathLst>
          </a:custGeom>
          <a:blipFill>
            <a:blip r:embed="rId7"/>
            <a:stretch>
              <a:fillRect l="0" t="-7642" r="-214" b="-7642"/>
            </a:stretch>
          </a:blipFill>
        </p:spPr>
      </p:sp>
      <p:sp>
        <p:nvSpPr>
          <p:cNvPr name="TextBox 14" id="14"/>
          <p:cNvSpPr txBox="true"/>
          <p:nvPr/>
        </p:nvSpPr>
        <p:spPr>
          <a:xfrm rot="0">
            <a:off x="2602843" y="2432372"/>
            <a:ext cx="12853714" cy="1374432"/>
          </a:xfrm>
          <a:prstGeom prst="rect">
            <a:avLst/>
          </a:prstGeom>
        </p:spPr>
        <p:txBody>
          <a:bodyPr anchor="t" rtlCol="false" tIns="0" lIns="0" bIns="0" rIns="0">
            <a:spAutoFit/>
          </a:bodyPr>
          <a:lstStyle/>
          <a:p>
            <a:pPr algn="ctr">
              <a:lnSpc>
                <a:spcPts val="10382"/>
              </a:lnSpc>
              <a:spcBef>
                <a:spcPct val="0"/>
              </a:spcBef>
            </a:pPr>
            <a:r>
              <a:rPr lang="en-US" b="true" sz="9983">
                <a:solidFill>
                  <a:srgbClr val="FFFFFF"/>
                </a:solidFill>
                <a:latin typeface="Raleway Bold"/>
                <a:ea typeface="Raleway Bold"/>
                <a:cs typeface="Raleway Bold"/>
                <a:sym typeface="Raleway Bold"/>
              </a:rPr>
              <a:t>Circuit Diagram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2283244">
            <a:off x="-4759168" y="4375423"/>
            <a:ext cx="10358005" cy="10410055"/>
          </a:xfrm>
          <a:custGeom>
            <a:avLst/>
            <a:gdLst/>
            <a:ahLst/>
            <a:cxnLst/>
            <a:rect r="r" b="b" t="t" l="l"/>
            <a:pathLst>
              <a:path h="10410055" w="10358005">
                <a:moveTo>
                  <a:pt x="10358005" y="0"/>
                </a:moveTo>
                <a:lnTo>
                  <a:pt x="0" y="0"/>
                </a:lnTo>
                <a:lnTo>
                  <a:pt x="0" y="10410055"/>
                </a:lnTo>
                <a:lnTo>
                  <a:pt x="10358005" y="10410055"/>
                </a:lnTo>
                <a:lnTo>
                  <a:pt x="10358005" y="0"/>
                </a:lnTo>
                <a:close/>
              </a:path>
            </a:pathLst>
          </a:custGeom>
          <a:blipFill>
            <a:blip r:embed="rId2"/>
            <a:stretch>
              <a:fillRect l="0" t="0" r="0" b="0"/>
            </a:stretch>
          </a:blipFill>
        </p:spPr>
      </p:sp>
      <p:sp>
        <p:nvSpPr>
          <p:cNvPr name="Freeform 3" id="3"/>
          <p:cNvSpPr/>
          <p:nvPr/>
        </p:nvSpPr>
        <p:spPr>
          <a:xfrm flipH="false" flipV="false" rot="0">
            <a:off x="6330741" y="-10904054"/>
            <a:ext cx="17956749" cy="18046984"/>
          </a:xfrm>
          <a:custGeom>
            <a:avLst/>
            <a:gdLst/>
            <a:ahLst/>
            <a:cxnLst/>
            <a:rect r="r" b="b" t="t" l="l"/>
            <a:pathLst>
              <a:path h="18046984" w="17956749">
                <a:moveTo>
                  <a:pt x="0" y="0"/>
                </a:moveTo>
                <a:lnTo>
                  <a:pt x="17956749" y="0"/>
                </a:lnTo>
                <a:lnTo>
                  <a:pt x="17956749" y="18046984"/>
                </a:lnTo>
                <a:lnTo>
                  <a:pt x="0" y="18046984"/>
                </a:lnTo>
                <a:lnTo>
                  <a:pt x="0" y="0"/>
                </a:lnTo>
                <a:close/>
              </a:path>
            </a:pathLst>
          </a:custGeom>
          <a:blipFill>
            <a:blip r:embed="rId2"/>
            <a:stretch>
              <a:fillRect l="0" t="0" r="0" b="0"/>
            </a:stretch>
          </a:blipFill>
        </p:spPr>
      </p:sp>
      <p:sp>
        <p:nvSpPr>
          <p:cNvPr name="Freeform 4" id="4"/>
          <p:cNvSpPr/>
          <p:nvPr/>
        </p:nvSpPr>
        <p:spPr>
          <a:xfrm flipH="false" flipV="false" rot="0">
            <a:off x="2051607" y="1061398"/>
            <a:ext cx="551236" cy="518162"/>
          </a:xfrm>
          <a:custGeom>
            <a:avLst/>
            <a:gdLst/>
            <a:ahLst/>
            <a:cxnLst/>
            <a:rect r="r" b="b" t="t" l="l"/>
            <a:pathLst>
              <a:path h="518162" w="551236">
                <a:moveTo>
                  <a:pt x="0" y="0"/>
                </a:moveTo>
                <a:lnTo>
                  <a:pt x="551236" y="0"/>
                </a:lnTo>
                <a:lnTo>
                  <a:pt x="551236" y="518162"/>
                </a:lnTo>
                <a:lnTo>
                  <a:pt x="0" y="5181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6998830" y="8999755"/>
            <a:ext cx="416017" cy="418299"/>
          </a:xfrm>
          <a:custGeom>
            <a:avLst/>
            <a:gdLst/>
            <a:ahLst/>
            <a:cxnLst/>
            <a:rect r="r" b="b" t="t" l="l"/>
            <a:pathLst>
              <a:path h="418299" w="416017">
                <a:moveTo>
                  <a:pt x="416017" y="0"/>
                </a:moveTo>
                <a:lnTo>
                  <a:pt x="0" y="0"/>
                </a:lnTo>
                <a:lnTo>
                  <a:pt x="0" y="418299"/>
                </a:lnTo>
                <a:lnTo>
                  <a:pt x="416017" y="418299"/>
                </a:lnTo>
                <a:lnTo>
                  <a:pt x="416017"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2455026" y="-917369"/>
            <a:ext cx="4220884" cy="422088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F7E0E1">
                      <a:alpha val="0"/>
                    </a:srgbClr>
                  </a:gs>
                  <a:gs pos="100000">
                    <a:srgbClr val="C6269E">
                      <a:alpha val="100000"/>
                    </a:srgbClr>
                  </a:gs>
                </a:gsLst>
                <a:lin ang="0"/>
              </a:gradFill>
              <a:prstDash val="solid"/>
              <a:miter/>
            </a:ln>
          </p:spPr>
        </p:sp>
        <p:sp>
          <p:nvSpPr>
            <p:cNvPr name="TextBox 8" id="8"/>
            <p:cNvSpPr txBox="true"/>
            <p:nvPr/>
          </p:nvSpPr>
          <p:spPr>
            <a:xfrm>
              <a:off x="76200" y="104775"/>
              <a:ext cx="660400" cy="631825"/>
            </a:xfrm>
            <a:prstGeom prst="rect">
              <a:avLst/>
            </a:prstGeom>
          </p:spPr>
          <p:txBody>
            <a:bodyPr anchor="ctr" rtlCol="false" tIns="50800" lIns="50800" bIns="50800" rIns="50800"/>
            <a:lstStyle/>
            <a:p>
              <a:pPr algn="ctr">
                <a:lnSpc>
                  <a:spcPts val="2557"/>
                </a:lnSpc>
              </a:pPr>
            </a:p>
          </p:txBody>
        </p:sp>
      </p:grpSp>
      <p:sp>
        <p:nvSpPr>
          <p:cNvPr name="TextBox 9" id="9"/>
          <p:cNvSpPr txBox="true"/>
          <p:nvPr/>
        </p:nvSpPr>
        <p:spPr>
          <a:xfrm rot="0">
            <a:off x="15309115" y="9072819"/>
            <a:ext cx="1716617"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Next Slide</a:t>
            </a:r>
          </a:p>
        </p:txBody>
      </p:sp>
      <p:grpSp>
        <p:nvGrpSpPr>
          <p:cNvPr name="Group 10" id="10"/>
          <p:cNvGrpSpPr/>
          <p:nvPr/>
        </p:nvGrpSpPr>
        <p:grpSpPr>
          <a:xfrm rot="0">
            <a:off x="13882414" y="6088611"/>
            <a:ext cx="5809652" cy="580965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F7E0E1">
                      <a:alpha val="0"/>
                    </a:srgbClr>
                  </a:gs>
                  <a:gs pos="100000">
                    <a:srgbClr val="C6269E">
                      <a:alpha val="100000"/>
                    </a:srgbClr>
                  </a:gs>
                </a:gsLst>
                <a:lin ang="0"/>
              </a:gradFill>
              <a:prstDash val="solid"/>
              <a:miter/>
            </a:ln>
          </p:spPr>
        </p:sp>
        <p:sp>
          <p:nvSpPr>
            <p:cNvPr name="TextBox 12" id="12"/>
            <p:cNvSpPr txBox="true"/>
            <p:nvPr/>
          </p:nvSpPr>
          <p:spPr>
            <a:xfrm>
              <a:off x="76200" y="104775"/>
              <a:ext cx="660400" cy="631825"/>
            </a:xfrm>
            <a:prstGeom prst="rect">
              <a:avLst/>
            </a:prstGeom>
          </p:spPr>
          <p:txBody>
            <a:bodyPr anchor="ctr" rtlCol="false" tIns="50800" lIns="50800" bIns="50800" rIns="50800"/>
            <a:lstStyle/>
            <a:p>
              <a:pPr algn="ctr">
                <a:lnSpc>
                  <a:spcPts val="2557"/>
                </a:lnSpc>
              </a:pPr>
            </a:p>
          </p:txBody>
        </p:sp>
      </p:grpSp>
      <p:sp>
        <p:nvSpPr>
          <p:cNvPr name="TextBox 13" id="13"/>
          <p:cNvSpPr txBox="true"/>
          <p:nvPr/>
        </p:nvSpPr>
        <p:spPr>
          <a:xfrm rot="0">
            <a:off x="2602843" y="2432372"/>
            <a:ext cx="12853714" cy="1374432"/>
          </a:xfrm>
          <a:prstGeom prst="rect">
            <a:avLst/>
          </a:prstGeom>
        </p:spPr>
        <p:txBody>
          <a:bodyPr anchor="t" rtlCol="false" tIns="0" lIns="0" bIns="0" rIns="0">
            <a:spAutoFit/>
          </a:bodyPr>
          <a:lstStyle/>
          <a:p>
            <a:pPr algn="ctr">
              <a:lnSpc>
                <a:spcPts val="10382"/>
              </a:lnSpc>
              <a:spcBef>
                <a:spcPct val="0"/>
              </a:spcBef>
            </a:pPr>
            <a:r>
              <a:rPr lang="en-US" b="true" sz="9983">
                <a:solidFill>
                  <a:srgbClr val="FFFFFF"/>
                </a:solidFill>
                <a:latin typeface="Raleway Bold"/>
                <a:ea typeface="Raleway Bold"/>
                <a:cs typeface="Raleway Bold"/>
                <a:sym typeface="Raleway Bold"/>
              </a:rPr>
              <a:t>Working Principle</a:t>
            </a:r>
          </a:p>
        </p:txBody>
      </p:sp>
      <p:sp>
        <p:nvSpPr>
          <p:cNvPr name="TextBox 14" id="14"/>
          <p:cNvSpPr txBox="true"/>
          <p:nvPr/>
        </p:nvSpPr>
        <p:spPr>
          <a:xfrm rot="0">
            <a:off x="2602843" y="4283537"/>
            <a:ext cx="10532359" cy="2699473"/>
          </a:xfrm>
          <a:prstGeom prst="rect">
            <a:avLst/>
          </a:prstGeom>
        </p:spPr>
        <p:txBody>
          <a:bodyPr anchor="t" rtlCol="false" tIns="0" lIns="0" bIns="0" rIns="0">
            <a:spAutoFit/>
          </a:bodyPr>
          <a:lstStyle/>
          <a:p>
            <a:pPr algn="ctr" marL="908638" indent="-454319" lvl="1">
              <a:lnSpc>
                <a:spcPts val="4376"/>
              </a:lnSpc>
              <a:spcBef>
                <a:spcPct val="0"/>
              </a:spcBef>
              <a:buFont typeface="Arial"/>
              <a:buChar char="•"/>
            </a:pPr>
            <a:r>
              <a:rPr lang="en-US" sz="4208">
                <a:solidFill>
                  <a:srgbClr val="FFFFFF"/>
                </a:solidFill>
                <a:latin typeface="Raleway"/>
                <a:ea typeface="Raleway"/>
                <a:cs typeface="Raleway"/>
                <a:sym typeface="Raleway"/>
              </a:rPr>
              <a:t>Ultrasonic sens</a:t>
            </a:r>
            <a:r>
              <a:rPr lang="en-US" sz="4208">
                <a:solidFill>
                  <a:srgbClr val="FFFFFF"/>
                </a:solidFill>
                <a:latin typeface="Raleway"/>
                <a:ea typeface="Raleway"/>
                <a:cs typeface="Raleway"/>
                <a:sym typeface="Raleway"/>
              </a:rPr>
              <a:t>or measures distance</a:t>
            </a:r>
          </a:p>
          <a:p>
            <a:pPr algn="ctr" marL="908638" indent="-454319" lvl="1">
              <a:lnSpc>
                <a:spcPts val="4376"/>
              </a:lnSpc>
              <a:spcBef>
                <a:spcPct val="0"/>
              </a:spcBef>
              <a:buFont typeface="Arial"/>
              <a:buChar char="•"/>
            </a:pPr>
            <a:r>
              <a:rPr lang="en-US" sz="4208">
                <a:solidFill>
                  <a:srgbClr val="FFFFFF"/>
                </a:solidFill>
                <a:latin typeface="Raleway"/>
                <a:ea typeface="Raleway"/>
                <a:cs typeface="Raleway"/>
                <a:sym typeface="Raleway"/>
              </a:rPr>
              <a:t>Arduino processes the signal</a:t>
            </a:r>
          </a:p>
          <a:p>
            <a:pPr algn="ctr" marL="908638" indent="-454319" lvl="1">
              <a:lnSpc>
                <a:spcPts val="4376"/>
              </a:lnSpc>
              <a:spcBef>
                <a:spcPct val="0"/>
              </a:spcBef>
              <a:buFont typeface="Arial"/>
              <a:buChar char="•"/>
            </a:pPr>
            <a:r>
              <a:rPr lang="en-US" sz="4208">
                <a:solidFill>
                  <a:srgbClr val="FFFFFF"/>
                </a:solidFill>
                <a:latin typeface="Raleway"/>
                <a:ea typeface="Raleway"/>
                <a:cs typeface="Raleway"/>
                <a:sym typeface="Raleway"/>
              </a:rPr>
              <a:t>If obstacle is near → robot turns</a:t>
            </a:r>
          </a:p>
          <a:p>
            <a:pPr algn="ctr" marL="908638" indent="-454319" lvl="1">
              <a:lnSpc>
                <a:spcPts val="4376"/>
              </a:lnSpc>
              <a:spcBef>
                <a:spcPct val="0"/>
              </a:spcBef>
              <a:buFont typeface="Arial"/>
              <a:buChar char="•"/>
            </a:pPr>
            <a:r>
              <a:rPr lang="en-US" sz="4208">
                <a:solidFill>
                  <a:srgbClr val="FFFFFF"/>
                </a:solidFill>
                <a:latin typeface="Raleway"/>
                <a:ea typeface="Raleway"/>
                <a:cs typeface="Raleway"/>
                <a:sym typeface="Raleway"/>
              </a:rPr>
              <a:t>If path is clear → robot moves forward</a:t>
            </a:r>
          </a:p>
          <a:p>
            <a:pPr algn="ctr">
              <a:lnSpc>
                <a:spcPts val="3694"/>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2283244">
            <a:off x="-4759168" y="4375423"/>
            <a:ext cx="10358005" cy="10410055"/>
          </a:xfrm>
          <a:custGeom>
            <a:avLst/>
            <a:gdLst/>
            <a:ahLst/>
            <a:cxnLst/>
            <a:rect r="r" b="b" t="t" l="l"/>
            <a:pathLst>
              <a:path h="10410055" w="10358005">
                <a:moveTo>
                  <a:pt x="10358005" y="0"/>
                </a:moveTo>
                <a:lnTo>
                  <a:pt x="0" y="0"/>
                </a:lnTo>
                <a:lnTo>
                  <a:pt x="0" y="10410055"/>
                </a:lnTo>
                <a:lnTo>
                  <a:pt x="10358005" y="10410055"/>
                </a:lnTo>
                <a:lnTo>
                  <a:pt x="10358005" y="0"/>
                </a:lnTo>
                <a:close/>
              </a:path>
            </a:pathLst>
          </a:custGeom>
          <a:blipFill>
            <a:blip r:embed="rId2"/>
            <a:stretch>
              <a:fillRect l="0" t="0" r="0" b="0"/>
            </a:stretch>
          </a:blipFill>
        </p:spPr>
      </p:sp>
      <p:sp>
        <p:nvSpPr>
          <p:cNvPr name="Freeform 3" id="3"/>
          <p:cNvSpPr/>
          <p:nvPr/>
        </p:nvSpPr>
        <p:spPr>
          <a:xfrm flipH="false" flipV="false" rot="0">
            <a:off x="6330741" y="-10904054"/>
            <a:ext cx="17956749" cy="18046984"/>
          </a:xfrm>
          <a:custGeom>
            <a:avLst/>
            <a:gdLst/>
            <a:ahLst/>
            <a:cxnLst/>
            <a:rect r="r" b="b" t="t" l="l"/>
            <a:pathLst>
              <a:path h="18046984" w="17956749">
                <a:moveTo>
                  <a:pt x="0" y="0"/>
                </a:moveTo>
                <a:lnTo>
                  <a:pt x="17956749" y="0"/>
                </a:lnTo>
                <a:lnTo>
                  <a:pt x="17956749" y="18046984"/>
                </a:lnTo>
                <a:lnTo>
                  <a:pt x="0" y="18046984"/>
                </a:lnTo>
                <a:lnTo>
                  <a:pt x="0" y="0"/>
                </a:lnTo>
                <a:close/>
              </a:path>
            </a:pathLst>
          </a:custGeom>
          <a:blipFill>
            <a:blip r:embed="rId2"/>
            <a:stretch>
              <a:fillRect l="0" t="0" r="0" b="0"/>
            </a:stretch>
          </a:blipFill>
        </p:spPr>
      </p:sp>
      <p:sp>
        <p:nvSpPr>
          <p:cNvPr name="Freeform 4" id="4"/>
          <p:cNvSpPr/>
          <p:nvPr/>
        </p:nvSpPr>
        <p:spPr>
          <a:xfrm flipH="false" flipV="false" rot="0">
            <a:off x="2051607" y="1061398"/>
            <a:ext cx="551236" cy="518162"/>
          </a:xfrm>
          <a:custGeom>
            <a:avLst/>
            <a:gdLst/>
            <a:ahLst/>
            <a:cxnLst/>
            <a:rect r="r" b="b" t="t" l="l"/>
            <a:pathLst>
              <a:path h="518162" w="551236">
                <a:moveTo>
                  <a:pt x="0" y="0"/>
                </a:moveTo>
                <a:lnTo>
                  <a:pt x="551236" y="0"/>
                </a:lnTo>
                <a:lnTo>
                  <a:pt x="551236" y="518162"/>
                </a:lnTo>
                <a:lnTo>
                  <a:pt x="0" y="5181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6998830" y="8999755"/>
            <a:ext cx="416017" cy="418299"/>
          </a:xfrm>
          <a:custGeom>
            <a:avLst/>
            <a:gdLst/>
            <a:ahLst/>
            <a:cxnLst/>
            <a:rect r="r" b="b" t="t" l="l"/>
            <a:pathLst>
              <a:path h="418299" w="416017">
                <a:moveTo>
                  <a:pt x="416017" y="0"/>
                </a:moveTo>
                <a:lnTo>
                  <a:pt x="0" y="0"/>
                </a:lnTo>
                <a:lnTo>
                  <a:pt x="0" y="418299"/>
                </a:lnTo>
                <a:lnTo>
                  <a:pt x="416017" y="418299"/>
                </a:lnTo>
                <a:lnTo>
                  <a:pt x="416017"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2455026" y="-917369"/>
            <a:ext cx="4220884" cy="422088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F7E0E1">
                      <a:alpha val="0"/>
                    </a:srgbClr>
                  </a:gs>
                  <a:gs pos="100000">
                    <a:srgbClr val="C6269E">
                      <a:alpha val="100000"/>
                    </a:srgbClr>
                  </a:gs>
                </a:gsLst>
                <a:lin ang="0"/>
              </a:gradFill>
              <a:prstDash val="solid"/>
              <a:miter/>
            </a:ln>
          </p:spPr>
        </p:sp>
        <p:sp>
          <p:nvSpPr>
            <p:cNvPr name="TextBox 8" id="8"/>
            <p:cNvSpPr txBox="true"/>
            <p:nvPr/>
          </p:nvSpPr>
          <p:spPr>
            <a:xfrm>
              <a:off x="76200" y="104775"/>
              <a:ext cx="660400" cy="631825"/>
            </a:xfrm>
            <a:prstGeom prst="rect">
              <a:avLst/>
            </a:prstGeom>
          </p:spPr>
          <p:txBody>
            <a:bodyPr anchor="ctr" rtlCol="false" tIns="50800" lIns="50800" bIns="50800" rIns="50800"/>
            <a:lstStyle/>
            <a:p>
              <a:pPr algn="ctr">
                <a:lnSpc>
                  <a:spcPts val="2557"/>
                </a:lnSpc>
              </a:pPr>
            </a:p>
          </p:txBody>
        </p:sp>
      </p:grpSp>
      <p:sp>
        <p:nvSpPr>
          <p:cNvPr name="TextBox 9" id="9"/>
          <p:cNvSpPr txBox="true"/>
          <p:nvPr/>
        </p:nvSpPr>
        <p:spPr>
          <a:xfrm rot="0">
            <a:off x="15309115" y="9072819"/>
            <a:ext cx="1716617"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Next Slide</a:t>
            </a:r>
          </a:p>
        </p:txBody>
      </p:sp>
      <p:grpSp>
        <p:nvGrpSpPr>
          <p:cNvPr name="Group 10" id="10"/>
          <p:cNvGrpSpPr/>
          <p:nvPr/>
        </p:nvGrpSpPr>
        <p:grpSpPr>
          <a:xfrm rot="0">
            <a:off x="13882414" y="6088611"/>
            <a:ext cx="5809652" cy="580965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F7E0E1">
                      <a:alpha val="0"/>
                    </a:srgbClr>
                  </a:gs>
                  <a:gs pos="100000">
                    <a:srgbClr val="C6269E">
                      <a:alpha val="100000"/>
                    </a:srgbClr>
                  </a:gs>
                </a:gsLst>
                <a:lin ang="0"/>
              </a:gradFill>
              <a:prstDash val="solid"/>
              <a:miter/>
            </a:ln>
          </p:spPr>
        </p:sp>
        <p:sp>
          <p:nvSpPr>
            <p:cNvPr name="TextBox 12" id="12"/>
            <p:cNvSpPr txBox="true"/>
            <p:nvPr/>
          </p:nvSpPr>
          <p:spPr>
            <a:xfrm>
              <a:off x="76200" y="104775"/>
              <a:ext cx="660400" cy="631825"/>
            </a:xfrm>
            <a:prstGeom prst="rect">
              <a:avLst/>
            </a:prstGeom>
          </p:spPr>
          <p:txBody>
            <a:bodyPr anchor="ctr" rtlCol="false" tIns="50800" lIns="50800" bIns="50800" rIns="50800"/>
            <a:lstStyle/>
            <a:p>
              <a:pPr algn="ctr">
                <a:lnSpc>
                  <a:spcPts val="2557"/>
                </a:lnSpc>
              </a:pPr>
            </a:p>
          </p:txBody>
        </p:sp>
      </p:grpSp>
      <p:sp>
        <p:nvSpPr>
          <p:cNvPr name="Freeform 13" id="13"/>
          <p:cNvSpPr/>
          <p:nvPr/>
        </p:nvSpPr>
        <p:spPr>
          <a:xfrm flipH="false" flipV="false" rot="0">
            <a:off x="3141454" y="3942248"/>
            <a:ext cx="4564883" cy="5983643"/>
          </a:xfrm>
          <a:custGeom>
            <a:avLst/>
            <a:gdLst/>
            <a:ahLst/>
            <a:cxnLst/>
            <a:rect r="r" b="b" t="t" l="l"/>
            <a:pathLst>
              <a:path h="5983643" w="4564883">
                <a:moveTo>
                  <a:pt x="0" y="0"/>
                </a:moveTo>
                <a:lnTo>
                  <a:pt x="4564884" y="0"/>
                </a:lnTo>
                <a:lnTo>
                  <a:pt x="4564884" y="5983643"/>
                </a:lnTo>
                <a:lnTo>
                  <a:pt x="0" y="5983643"/>
                </a:lnTo>
                <a:lnTo>
                  <a:pt x="0" y="0"/>
                </a:lnTo>
                <a:close/>
              </a:path>
            </a:pathLst>
          </a:custGeom>
          <a:blipFill>
            <a:blip r:embed="rId7"/>
            <a:stretch>
              <a:fillRect l="-2214" t="0" r="-3615" b="0"/>
            </a:stretch>
          </a:blipFill>
        </p:spPr>
      </p:sp>
      <p:sp>
        <p:nvSpPr>
          <p:cNvPr name="Freeform 14" id="14"/>
          <p:cNvSpPr/>
          <p:nvPr/>
        </p:nvSpPr>
        <p:spPr>
          <a:xfrm flipH="false" flipV="false" rot="0">
            <a:off x="8291679" y="6088611"/>
            <a:ext cx="5462935" cy="2853125"/>
          </a:xfrm>
          <a:custGeom>
            <a:avLst/>
            <a:gdLst/>
            <a:ahLst/>
            <a:cxnLst/>
            <a:rect r="r" b="b" t="t" l="l"/>
            <a:pathLst>
              <a:path h="2853125" w="5462935">
                <a:moveTo>
                  <a:pt x="0" y="0"/>
                </a:moveTo>
                <a:lnTo>
                  <a:pt x="5462936" y="0"/>
                </a:lnTo>
                <a:lnTo>
                  <a:pt x="5462936" y="2853125"/>
                </a:lnTo>
                <a:lnTo>
                  <a:pt x="0" y="2853125"/>
                </a:lnTo>
                <a:lnTo>
                  <a:pt x="0" y="0"/>
                </a:lnTo>
                <a:close/>
              </a:path>
            </a:pathLst>
          </a:custGeom>
          <a:blipFill>
            <a:blip r:embed="rId8"/>
            <a:stretch>
              <a:fillRect l="0" t="0" r="-32805" b="0"/>
            </a:stretch>
          </a:blipFill>
        </p:spPr>
      </p:sp>
      <p:sp>
        <p:nvSpPr>
          <p:cNvPr name="TextBox 15" id="15"/>
          <p:cNvSpPr txBox="true"/>
          <p:nvPr/>
        </p:nvSpPr>
        <p:spPr>
          <a:xfrm rot="0">
            <a:off x="2602843" y="2432372"/>
            <a:ext cx="12853714" cy="1374432"/>
          </a:xfrm>
          <a:prstGeom prst="rect">
            <a:avLst/>
          </a:prstGeom>
        </p:spPr>
        <p:txBody>
          <a:bodyPr anchor="t" rtlCol="false" tIns="0" lIns="0" bIns="0" rIns="0">
            <a:spAutoFit/>
          </a:bodyPr>
          <a:lstStyle/>
          <a:p>
            <a:pPr algn="ctr">
              <a:lnSpc>
                <a:spcPts val="10382"/>
              </a:lnSpc>
              <a:spcBef>
                <a:spcPct val="0"/>
              </a:spcBef>
            </a:pPr>
            <a:r>
              <a:rPr lang="en-US" b="true" sz="9983">
                <a:solidFill>
                  <a:srgbClr val="FFFFFF"/>
                </a:solidFill>
                <a:latin typeface="Raleway Bold"/>
                <a:ea typeface="Raleway Bold"/>
                <a:cs typeface="Raleway Bold"/>
                <a:sym typeface="Raleway Bold"/>
              </a:rPr>
              <a:t>Arduino Code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2283244">
            <a:off x="-4759168" y="4375423"/>
            <a:ext cx="10358005" cy="10410055"/>
          </a:xfrm>
          <a:custGeom>
            <a:avLst/>
            <a:gdLst/>
            <a:ahLst/>
            <a:cxnLst/>
            <a:rect r="r" b="b" t="t" l="l"/>
            <a:pathLst>
              <a:path h="10410055" w="10358005">
                <a:moveTo>
                  <a:pt x="10358005" y="0"/>
                </a:moveTo>
                <a:lnTo>
                  <a:pt x="0" y="0"/>
                </a:lnTo>
                <a:lnTo>
                  <a:pt x="0" y="10410055"/>
                </a:lnTo>
                <a:lnTo>
                  <a:pt x="10358005" y="10410055"/>
                </a:lnTo>
                <a:lnTo>
                  <a:pt x="10358005" y="0"/>
                </a:lnTo>
                <a:close/>
              </a:path>
            </a:pathLst>
          </a:custGeom>
          <a:blipFill>
            <a:blip r:embed="rId2"/>
            <a:stretch>
              <a:fillRect l="0" t="0" r="0" b="0"/>
            </a:stretch>
          </a:blipFill>
        </p:spPr>
      </p:sp>
      <p:sp>
        <p:nvSpPr>
          <p:cNvPr name="Freeform 3" id="3"/>
          <p:cNvSpPr/>
          <p:nvPr/>
        </p:nvSpPr>
        <p:spPr>
          <a:xfrm flipH="false" flipV="false" rot="0">
            <a:off x="6330741" y="-10904054"/>
            <a:ext cx="17956749" cy="18046984"/>
          </a:xfrm>
          <a:custGeom>
            <a:avLst/>
            <a:gdLst/>
            <a:ahLst/>
            <a:cxnLst/>
            <a:rect r="r" b="b" t="t" l="l"/>
            <a:pathLst>
              <a:path h="18046984" w="17956749">
                <a:moveTo>
                  <a:pt x="0" y="0"/>
                </a:moveTo>
                <a:lnTo>
                  <a:pt x="17956749" y="0"/>
                </a:lnTo>
                <a:lnTo>
                  <a:pt x="17956749" y="18046984"/>
                </a:lnTo>
                <a:lnTo>
                  <a:pt x="0" y="18046984"/>
                </a:lnTo>
                <a:lnTo>
                  <a:pt x="0" y="0"/>
                </a:lnTo>
                <a:close/>
              </a:path>
            </a:pathLst>
          </a:custGeom>
          <a:blipFill>
            <a:blip r:embed="rId2"/>
            <a:stretch>
              <a:fillRect l="0" t="0" r="0" b="0"/>
            </a:stretch>
          </a:blipFill>
        </p:spPr>
      </p:sp>
      <p:sp>
        <p:nvSpPr>
          <p:cNvPr name="Freeform 4" id="4"/>
          <p:cNvSpPr/>
          <p:nvPr/>
        </p:nvSpPr>
        <p:spPr>
          <a:xfrm flipH="false" flipV="false" rot="0">
            <a:off x="2051607" y="1061398"/>
            <a:ext cx="551236" cy="518162"/>
          </a:xfrm>
          <a:custGeom>
            <a:avLst/>
            <a:gdLst/>
            <a:ahLst/>
            <a:cxnLst/>
            <a:rect r="r" b="b" t="t" l="l"/>
            <a:pathLst>
              <a:path h="518162" w="551236">
                <a:moveTo>
                  <a:pt x="0" y="0"/>
                </a:moveTo>
                <a:lnTo>
                  <a:pt x="551236" y="0"/>
                </a:lnTo>
                <a:lnTo>
                  <a:pt x="551236" y="518162"/>
                </a:lnTo>
                <a:lnTo>
                  <a:pt x="0" y="5181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6998830" y="8999755"/>
            <a:ext cx="416017" cy="418299"/>
          </a:xfrm>
          <a:custGeom>
            <a:avLst/>
            <a:gdLst/>
            <a:ahLst/>
            <a:cxnLst/>
            <a:rect r="r" b="b" t="t" l="l"/>
            <a:pathLst>
              <a:path h="418299" w="416017">
                <a:moveTo>
                  <a:pt x="416017" y="0"/>
                </a:moveTo>
                <a:lnTo>
                  <a:pt x="0" y="0"/>
                </a:lnTo>
                <a:lnTo>
                  <a:pt x="0" y="418299"/>
                </a:lnTo>
                <a:lnTo>
                  <a:pt x="416017" y="418299"/>
                </a:lnTo>
                <a:lnTo>
                  <a:pt x="416017"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2455026" y="-917369"/>
            <a:ext cx="4220884" cy="422088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F7E0E1">
                      <a:alpha val="0"/>
                    </a:srgbClr>
                  </a:gs>
                  <a:gs pos="100000">
                    <a:srgbClr val="C6269E">
                      <a:alpha val="100000"/>
                    </a:srgbClr>
                  </a:gs>
                </a:gsLst>
                <a:lin ang="0"/>
              </a:gradFill>
              <a:prstDash val="solid"/>
              <a:miter/>
            </a:ln>
          </p:spPr>
        </p:sp>
        <p:sp>
          <p:nvSpPr>
            <p:cNvPr name="TextBox 8" id="8"/>
            <p:cNvSpPr txBox="true"/>
            <p:nvPr/>
          </p:nvSpPr>
          <p:spPr>
            <a:xfrm>
              <a:off x="76200" y="104775"/>
              <a:ext cx="660400" cy="631825"/>
            </a:xfrm>
            <a:prstGeom prst="rect">
              <a:avLst/>
            </a:prstGeom>
          </p:spPr>
          <p:txBody>
            <a:bodyPr anchor="ctr" rtlCol="false" tIns="50800" lIns="50800" bIns="50800" rIns="50800"/>
            <a:lstStyle/>
            <a:p>
              <a:pPr algn="ctr">
                <a:lnSpc>
                  <a:spcPts val="2557"/>
                </a:lnSpc>
              </a:pPr>
            </a:p>
          </p:txBody>
        </p:sp>
      </p:grpSp>
      <p:sp>
        <p:nvSpPr>
          <p:cNvPr name="TextBox 9" id="9"/>
          <p:cNvSpPr txBox="true"/>
          <p:nvPr/>
        </p:nvSpPr>
        <p:spPr>
          <a:xfrm rot="0">
            <a:off x="2602843" y="2432372"/>
            <a:ext cx="12853714" cy="1374432"/>
          </a:xfrm>
          <a:prstGeom prst="rect">
            <a:avLst/>
          </a:prstGeom>
        </p:spPr>
        <p:txBody>
          <a:bodyPr anchor="t" rtlCol="false" tIns="0" lIns="0" bIns="0" rIns="0">
            <a:spAutoFit/>
          </a:bodyPr>
          <a:lstStyle/>
          <a:p>
            <a:pPr algn="ctr">
              <a:lnSpc>
                <a:spcPts val="10382"/>
              </a:lnSpc>
              <a:spcBef>
                <a:spcPct val="0"/>
              </a:spcBef>
            </a:pPr>
            <a:r>
              <a:rPr lang="en-US" b="true" sz="9983">
                <a:solidFill>
                  <a:srgbClr val="FFFFFF"/>
                </a:solidFill>
                <a:latin typeface="Raleway Bold"/>
                <a:ea typeface="Raleway Bold"/>
                <a:cs typeface="Raleway Bold"/>
                <a:sym typeface="Raleway Bold"/>
              </a:rPr>
              <a:t>Advantages</a:t>
            </a:r>
          </a:p>
        </p:txBody>
      </p:sp>
      <p:sp>
        <p:nvSpPr>
          <p:cNvPr name="TextBox 10" id="10"/>
          <p:cNvSpPr txBox="true"/>
          <p:nvPr/>
        </p:nvSpPr>
        <p:spPr>
          <a:xfrm rot="0">
            <a:off x="1765857" y="5873729"/>
            <a:ext cx="15590370" cy="2383079"/>
          </a:xfrm>
          <a:prstGeom prst="rect">
            <a:avLst/>
          </a:prstGeom>
        </p:spPr>
        <p:txBody>
          <a:bodyPr anchor="t" rtlCol="false" tIns="0" lIns="0" bIns="0" rIns="0">
            <a:spAutoFit/>
          </a:bodyPr>
          <a:lstStyle/>
          <a:p>
            <a:pPr algn="l" marL="769957" indent="-384979" lvl="1">
              <a:lnSpc>
                <a:spcPts val="3708"/>
              </a:lnSpc>
              <a:buFont typeface="Arial"/>
              <a:buChar char="•"/>
            </a:pPr>
            <a:r>
              <a:rPr lang="en-US" sz="3566">
                <a:solidFill>
                  <a:srgbClr val="FFFFFF"/>
                </a:solidFill>
                <a:latin typeface="Raleway"/>
                <a:ea typeface="Raleway"/>
                <a:cs typeface="Raleway"/>
                <a:sym typeface="Raleway"/>
              </a:rPr>
              <a:t>Self-driving vehicles</a:t>
            </a:r>
          </a:p>
          <a:p>
            <a:pPr algn="l" marL="769957" indent="-384979" lvl="1">
              <a:lnSpc>
                <a:spcPts val="3708"/>
              </a:lnSpc>
              <a:buFont typeface="Arial"/>
              <a:buChar char="•"/>
            </a:pPr>
            <a:r>
              <a:rPr lang="en-US" sz="3566">
                <a:solidFill>
                  <a:srgbClr val="FFFFFF"/>
                </a:solidFill>
                <a:latin typeface="Raleway"/>
                <a:ea typeface="Raleway"/>
                <a:cs typeface="Raleway"/>
                <a:sym typeface="Raleway"/>
              </a:rPr>
              <a:t>In</a:t>
            </a:r>
            <a:r>
              <a:rPr lang="en-US" sz="3566">
                <a:solidFill>
                  <a:srgbClr val="FFFFFF"/>
                </a:solidFill>
                <a:latin typeface="Raleway"/>
                <a:ea typeface="Raleway"/>
                <a:cs typeface="Raleway"/>
                <a:sym typeface="Raleway"/>
              </a:rPr>
              <a:t>dustrial automation</a:t>
            </a:r>
          </a:p>
          <a:p>
            <a:pPr algn="l" marL="769957" indent="-384979" lvl="1">
              <a:lnSpc>
                <a:spcPts val="3708"/>
              </a:lnSpc>
              <a:buFont typeface="Arial"/>
              <a:buChar char="•"/>
            </a:pPr>
            <a:r>
              <a:rPr lang="en-US" sz="3566">
                <a:solidFill>
                  <a:srgbClr val="FFFFFF"/>
                </a:solidFill>
                <a:latin typeface="Raleway"/>
                <a:ea typeface="Raleway"/>
                <a:cs typeface="Raleway"/>
                <a:sym typeface="Raleway"/>
              </a:rPr>
              <a:t>Military robots</a:t>
            </a:r>
          </a:p>
          <a:p>
            <a:pPr algn="l" marL="769957" indent="-384979" lvl="1">
              <a:lnSpc>
                <a:spcPts val="3708"/>
              </a:lnSpc>
              <a:buFont typeface="Arial"/>
              <a:buChar char="•"/>
            </a:pPr>
            <a:r>
              <a:rPr lang="en-US" sz="3566">
                <a:solidFill>
                  <a:srgbClr val="FFFFFF"/>
                </a:solidFill>
                <a:latin typeface="Raleway"/>
                <a:ea typeface="Raleway"/>
                <a:cs typeface="Raleway"/>
                <a:sym typeface="Raleway"/>
              </a:rPr>
              <a:t>Cleaning robots</a:t>
            </a:r>
          </a:p>
          <a:p>
            <a:pPr algn="l">
              <a:lnSpc>
                <a:spcPts val="3708"/>
              </a:lnSpc>
              <a:spcBef>
                <a:spcPct val="0"/>
              </a:spcBef>
            </a:pPr>
          </a:p>
        </p:txBody>
      </p:sp>
      <p:sp>
        <p:nvSpPr>
          <p:cNvPr name="TextBox 11" id="11"/>
          <p:cNvSpPr txBox="true"/>
          <p:nvPr/>
        </p:nvSpPr>
        <p:spPr>
          <a:xfrm rot="0">
            <a:off x="15309115" y="9072819"/>
            <a:ext cx="1716617"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Next Slide</a:t>
            </a:r>
          </a:p>
        </p:txBody>
      </p:sp>
      <p:grpSp>
        <p:nvGrpSpPr>
          <p:cNvPr name="Group 12" id="12"/>
          <p:cNvGrpSpPr/>
          <p:nvPr/>
        </p:nvGrpSpPr>
        <p:grpSpPr>
          <a:xfrm rot="0">
            <a:off x="13882414" y="6088611"/>
            <a:ext cx="5809652" cy="5809652"/>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F7E0E1">
                      <a:alpha val="0"/>
                    </a:srgbClr>
                  </a:gs>
                  <a:gs pos="100000">
                    <a:srgbClr val="C6269E">
                      <a:alpha val="100000"/>
                    </a:srgbClr>
                  </a:gs>
                </a:gsLst>
                <a:lin ang="0"/>
              </a:gradFill>
              <a:prstDash val="solid"/>
              <a:miter/>
            </a:ln>
          </p:spPr>
        </p:sp>
        <p:sp>
          <p:nvSpPr>
            <p:cNvPr name="TextBox 14" id="14"/>
            <p:cNvSpPr txBox="true"/>
            <p:nvPr/>
          </p:nvSpPr>
          <p:spPr>
            <a:xfrm>
              <a:off x="76200" y="104775"/>
              <a:ext cx="660400" cy="631825"/>
            </a:xfrm>
            <a:prstGeom prst="rect">
              <a:avLst/>
            </a:prstGeom>
          </p:spPr>
          <p:txBody>
            <a:bodyPr anchor="ctr" rtlCol="false" tIns="50800" lIns="50800" bIns="50800" rIns="50800"/>
            <a:lstStyle/>
            <a:p>
              <a:pPr algn="ctr">
                <a:lnSpc>
                  <a:spcPts val="2557"/>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2283244">
            <a:off x="-4759168" y="4375423"/>
            <a:ext cx="10358005" cy="10410055"/>
          </a:xfrm>
          <a:custGeom>
            <a:avLst/>
            <a:gdLst/>
            <a:ahLst/>
            <a:cxnLst/>
            <a:rect r="r" b="b" t="t" l="l"/>
            <a:pathLst>
              <a:path h="10410055" w="10358005">
                <a:moveTo>
                  <a:pt x="10358005" y="0"/>
                </a:moveTo>
                <a:lnTo>
                  <a:pt x="0" y="0"/>
                </a:lnTo>
                <a:lnTo>
                  <a:pt x="0" y="10410055"/>
                </a:lnTo>
                <a:lnTo>
                  <a:pt x="10358005" y="10410055"/>
                </a:lnTo>
                <a:lnTo>
                  <a:pt x="10358005" y="0"/>
                </a:lnTo>
                <a:close/>
              </a:path>
            </a:pathLst>
          </a:custGeom>
          <a:blipFill>
            <a:blip r:embed="rId2"/>
            <a:stretch>
              <a:fillRect l="0" t="0" r="0" b="0"/>
            </a:stretch>
          </a:blipFill>
        </p:spPr>
      </p:sp>
      <p:sp>
        <p:nvSpPr>
          <p:cNvPr name="Freeform 3" id="3"/>
          <p:cNvSpPr/>
          <p:nvPr/>
        </p:nvSpPr>
        <p:spPr>
          <a:xfrm flipH="false" flipV="false" rot="0">
            <a:off x="6330741" y="-10904054"/>
            <a:ext cx="17956749" cy="18046984"/>
          </a:xfrm>
          <a:custGeom>
            <a:avLst/>
            <a:gdLst/>
            <a:ahLst/>
            <a:cxnLst/>
            <a:rect r="r" b="b" t="t" l="l"/>
            <a:pathLst>
              <a:path h="18046984" w="17956749">
                <a:moveTo>
                  <a:pt x="0" y="0"/>
                </a:moveTo>
                <a:lnTo>
                  <a:pt x="17956749" y="0"/>
                </a:lnTo>
                <a:lnTo>
                  <a:pt x="17956749" y="18046984"/>
                </a:lnTo>
                <a:lnTo>
                  <a:pt x="0" y="18046984"/>
                </a:lnTo>
                <a:lnTo>
                  <a:pt x="0" y="0"/>
                </a:lnTo>
                <a:close/>
              </a:path>
            </a:pathLst>
          </a:custGeom>
          <a:blipFill>
            <a:blip r:embed="rId2"/>
            <a:stretch>
              <a:fillRect l="0" t="0" r="0" b="0"/>
            </a:stretch>
          </a:blipFill>
        </p:spPr>
      </p:sp>
      <p:sp>
        <p:nvSpPr>
          <p:cNvPr name="Freeform 4" id="4"/>
          <p:cNvSpPr/>
          <p:nvPr/>
        </p:nvSpPr>
        <p:spPr>
          <a:xfrm flipH="false" flipV="false" rot="0">
            <a:off x="2051607" y="1061398"/>
            <a:ext cx="551236" cy="518162"/>
          </a:xfrm>
          <a:custGeom>
            <a:avLst/>
            <a:gdLst/>
            <a:ahLst/>
            <a:cxnLst/>
            <a:rect r="r" b="b" t="t" l="l"/>
            <a:pathLst>
              <a:path h="518162" w="551236">
                <a:moveTo>
                  <a:pt x="0" y="0"/>
                </a:moveTo>
                <a:lnTo>
                  <a:pt x="551236" y="0"/>
                </a:lnTo>
                <a:lnTo>
                  <a:pt x="551236" y="518162"/>
                </a:lnTo>
                <a:lnTo>
                  <a:pt x="0" y="5181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6998830" y="8999755"/>
            <a:ext cx="416017" cy="418299"/>
          </a:xfrm>
          <a:custGeom>
            <a:avLst/>
            <a:gdLst/>
            <a:ahLst/>
            <a:cxnLst/>
            <a:rect r="r" b="b" t="t" l="l"/>
            <a:pathLst>
              <a:path h="418299" w="416017">
                <a:moveTo>
                  <a:pt x="416017" y="0"/>
                </a:moveTo>
                <a:lnTo>
                  <a:pt x="0" y="0"/>
                </a:lnTo>
                <a:lnTo>
                  <a:pt x="0" y="418299"/>
                </a:lnTo>
                <a:lnTo>
                  <a:pt x="416017" y="418299"/>
                </a:lnTo>
                <a:lnTo>
                  <a:pt x="416017"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2455026" y="-917369"/>
            <a:ext cx="4220884" cy="422088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F7E0E1">
                      <a:alpha val="0"/>
                    </a:srgbClr>
                  </a:gs>
                  <a:gs pos="100000">
                    <a:srgbClr val="C6269E">
                      <a:alpha val="100000"/>
                    </a:srgbClr>
                  </a:gs>
                </a:gsLst>
                <a:lin ang="0"/>
              </a:gradFill>
              <a:prstDash val="solid"/>
              <a:miter/>
            </a:ln>
          </p:spPr>
        </p:sp>
        <p:sp>
          <p:nvSpPr>
            <p:cNvPr name="TextBox 8" id="8"/>
            <p:cNvSpPr txBox="true"/>
            <p:nvPr/>
          </p:nvSpPr>
          <p:spPr>
            <a:xfrm>
              <a:off x="76200" y="104775"/>
              <a:ext cx="660400" cy="631825"/>
            </a:xfrm>
            <a:prstGeom prst="rect">
              <a:avLst/>
            </a:prstGeom>
          </p:spPr>
          <p:txBody>
            <a:bodyPr anchor="ctr" rtlCol="false" tIns="50800" lIns="50800" bIns="50800" rIns="50800"/>
            <a:lstStyle/>
            <a:p>
              <a:pPr algn="ctr">
                <a:lnSpc>
                  <a:spcPts val="2557"/>
                </a:lnSpc>
              </a:pPr>
            </a:p>
          </p:txBody>
        </p:sp>
      </p:grpSp>
      <p:sp>
        <p:nvSpPr>
          <p:cNvPr name="TextBox 9" id="9"/>
          <p:cNvSpPr txBox="true"/>
          <p:nvPr/>
        </p:nvSpPr>
        <p:spPr>
          <a:xfrm rot="0">
            <a:off x="2602843" y="2432372"/>
            <a:ext cx="12853714" cy="1374432"/>
          </a:xfrm>
          <a:prstGeom prst="rect">
            <a:avLst/>
          </a:prstGeom>
        </p:spPr>
        <p:txBody>
          <a:bodyPr anchor="t" rtlCol="false" tIns="0" lIns="0" bIns="0" rIns="0">
            <a:spAutoFit/>
          </a:bodyPr>
          <a:lstStyle/>
          <a:p>
            <a:pPr algn="ctr">
              <a:lnSpc>
                <a:spcPts val="10382"/>
              </a:lnSpc>
              <a:spcBef>
                <a:spcPct val="0"/>
              </a:spcBef>
            </a:pPr>
            <a:r>
              <a:rPr lang="en-US" b="true" sz="9983">
                <a:solidFill>
                  <a:srgbClr val="FFFFFF"/>
                </a:solidFill>
                <a:latin typeface="Raleway Bold"/>
                <a:ea typeface="Raleway Bold"/>
                <a:cs typeface="Raleway Bold"/>
                <a:sym typeface="Raleway Bold"/>
              </a:rPr>
              <a:t>Conclusion</a:t>
            </a:r>
          </a:p>
        </p:txBody>
      </p:sp>
      <p:sp>
        <p:nvSpPr>
          <p:cNvPr name="TextBox 10" id="10"/>
          <p:cNvSpPr txBox="true"/>
          <p:nvPr/>
        </p:nvSpPr>
        <p:spPr>
          <a:xfrm rot="0">
            <a:off x="2051607" y="5385864"/>
            <a:ext cx="15590370" cy="1443594"/>
          </a:xfrm>
          <a:prstGeom prst="rect">
            <a:avLst/>
          </a:prstGeom>
        </p:spPr>
        <p:txBody>
          <a:bodyPr anchor="t" rtlCol="false" tIns="0" lIns="0" bIns="0" rIns="0">
            <a:spAutoFit/>
          </a:bodyPr>
          <a:lstStyle/>
          <a:p>
            <a:pPr algn="l">
              <a:lnSpc>
                <a:spcPts val="3708"/>
              </a:lnSpc>
              <a:spcBef>
                <a:spcPct val="0"/>
              </a:spcBef>
            </a:pPr>
            <a:r>
              <a:rPr lang="en-US" sz="3566">
                <a:solidFill>
                  <a:srgbClr val="FFFFFF"/>
                </a:solidFill>
                <a:latin typeface="Raleway"/>
                <a:ea typeface="Raleway"/>
                <a:cs typeface="Raleway"/>
                <a:sym typeface="Raleway"/>
              </a:rPr>
              <a:t>The obstacle avoidance robot successfully detects obstacles a</a:t>
            </a:r>
            <a:r>
              <a:rPr lang="en-US" sz="3566">
                <a:solidFill>
                  <a:srgbClr val="FFFFFF"/>
                </a:solidFill>
                <a:latin typeface="Raleway"/>
                <a:ea typeface="Raleway"/>
                <a:cs typeface="Raleway"/>
                <a:sym typeface="Raleway"/>
              </a:rPr>
              <a:t>n</a:t>
            </a:r>
            <a:r>
              <a:rPr lang="en-US" sz="3566">
                <a:solidFill>
                  <a:srgbClr val="FFFFFF"/>
                </a:solidFill>
                <a:latin typeface="Raleway"/>
                <a:ea typeface="Raleway"/>
                <a:cs typeface="Raleway"/>
                <a:sym typeface="Raleway"/>
              </a:rPr>
              <a:t>d changes direction automatically. This project demonstrates the use of sensors, microcontrollers, and motor control in robotics.</a:t>
            </a:r>
          </a:p>
        </p:txBody>
      </p:sp>
      <p:sp>
        <p:nvSpPr>
          <p:cNvPr name="TextBox 11" id="11"/>
          <p:cNvSpPr txBox="true"/>
          <p:nvPr/>
        </p:nvSpPr>
        <p:spPr>
          <a:xfrm rot="0">
            <a:off x="15309115" y="9072819"/>
            <a:ext cx="1716617"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Next Slide</a:t>
            </a:r>
          </a:p>
        </p:txBody>
      </p:sp>
      <p:grpSp>
        <p:nvGrpSpPr>
          <p:cNvPr name="Group 12" id="12"/>
          <p:cNvGrpSpPr/>
          <p:nvPr/>
        </p:nvGrpSpPr>
        <p:grpSpPr>
          <a:xfrm rot="0">
            <a:off x="13882414" y="6088611"/>
            <a:ext cx="5809652" cy="5809652"/>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F7E0E1">
                      <a:alpha val="0"/>
                    </a:srgbClr>
                  </a:gs>
                  <a:gs pos="100000">
                    <a:srgbClr val="C6269E">
                      <a:alpha val="100000"/>
                    </a:srgbClr>
                  </a:gs>
                </a:gsLst>
                <a:lin ang="0"/>
              </a:gradFill>
              <a:prstDash val="solid"/>
              <a:miter/>
            </a:ln>
          </p:spPr>
        </p:sp>
        <p:sp>
          <p:nvSpPr>
            <p:cNvPr name="TextBox 14" id="14"/>
            <p:cNvSpPr txBox="true"/>
            <p:nvPr/>
          </p:nvSpPr>
          <p:spPr>
            <a:xfrm>
              <a:off x="76200" y="104775"/>
              <a:ext cx="660400" cy="631825"/>
            </a:xfrm>
            <a:prstGeom prst="rect">
              <a:avLst/>
            </a:prstGeom>
          </p:spPr>
          <p:txBody>
            <a:bodyPr anchor="ctr" rtlCol="false" tIns="50800" lIns="50800" bIns="50800" rIns="50800"/>
            <a:lstStyle/>
            <a:p>
              <a:pPr algn="ctr">
                <a:lnSpc>
                  <a:spcPts val="2557"/>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DAHB462DNCI</dc:identifier>
  <dcterms:modified xsi:type="dcterms:W3CDTF">2011-08-01T06:04:30Z</dcterms:modified>
  <cp:revision>1</cp:revision>
  <dc:title>🚗 Obstacle Avoidance Robot using Arduino</dc:title>
</cp:coreProperties>
</file>